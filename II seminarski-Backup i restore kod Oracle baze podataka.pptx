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977" r:id="rId1"/>
  </p:sldMasterIdLst>
  <p:notesMasterIdLst>
    <p:notesMasterId r:id="rId23"/>
  </p:notesMasterIdLst>
  <p:sldIdLst>
    <p:sldId id="256" r:id="rId2"/>
    <p:sldId id="257" r:id="rId3"/>
    <p:sldId id="262" r:id="rId4"/>
    <p:sldId id="277" r:id="rId5"/>
    <p:sldId id="279" r:id="rId6"/>
    <p:sldId id="282" r:id="rId7"/>
    <p:sldId id="284" r:id="rId8"/>
    <p:sldId id="280" r:id="rId9"/>
    <p:sldId id="293" r:id="rId10"/>
    <p:sldId id="294" r:id="rId11"/>
    <p:sldId id="295" r:id="rId12"/>
    <p:sldId id="296" r:id="rId13"/>
    <p:sldId id="285" r:id="rId14"/>
    <p:sldId id="281" r:id="rId15"/>
    <p:sldId id="286" r:id="rId16"/>
    <p:sldId id="287" r:id="rId17"/>
    <p:sldId id="288" r:id="rId18"/>
    <p:sldId id="289" r:id="rId19"/>
    <p:sldId id="291" r:id="rId20"/>
    <p:sldId id="292" r:id="rId21"/>
    <p:sldId id="276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93" autoAdjust="0"/>
    <p:restoredTop sz="77675" autoAdjust="0"/>
  </p:normalViewPr>
  <p:slideViewPr>
    <p:cSldViewPr snapToGrid="0">
      <p:cViewPr varScale="1">
        <p:scale>
          <a:sx n="90" d="100"/>
          <a:sy n="90" d="100"/>
        </p:scale>
        <p:origin x="145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5145B2-F7BF-44F1-A720-EF5C5AD3FB97}" type="datetimeFigureOut">
              <a:rPr lang="en-US" smtClean="0"/>
              <a:t>06-Sep-21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84D579-BE74-4415-8D56-3D8FB0D839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0621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84D579-BE74-4415-8D56-3D8FB0D8393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2787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84D579-BE74-4415-8D56-3D8FB0D8393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81976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84D579-BE74-4415-8D56-3D8FB0D8393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4523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84D579-BE74-4415-8D56-3D8FB0D8393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37446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84D579-BE74-4415-8D56-3D8FB0D8393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90274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84D579-BE74-4415-8D56-3D8FB0D8393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13652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84D579-BE74-4415-8D56-3D8FB0D8393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30733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84D579-BE74-4415-8D56-3D8FB0D8393F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117391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84D579-BE74-4415-8D56-3D8FB0D8393F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41879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84D579-BE74-4415-8D56-3D8FB0D8393F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136848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84D579-BE74-4415-8D56-3D8FB0D8393F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564654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84D579-BE74-4415-8D56-3D8FB0D8393F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1850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06-Sep-21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71676435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06-Sep-21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55505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06-Sep-21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6200301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06-Sep-21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83579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06-Sep-21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78010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06-Sep-21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03662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06-Sep-21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38921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06-Sep-21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079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06-Sep-21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06429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06-Sep-21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72998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06-Sep-21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83976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06-Sep-21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81152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78" r:id="rId1"/>
    <p:sldLayoutId id="2147483979" r:id="rId2"/>
    <p:sldLayoutId id="2147483980" r:id="rId3"/>
    <p:sldLayoutId id="2147483981" r:id="rId4"/>
    <p:sldLayoutId id="2147483982" r:id="rId5"/>
    <p:sldLayoutId id="2147483983" r:id="rId6"/>
    <p:sldLayoutId id="2147483984" r:id="rId7"/>
    <p:sldLayoutId id="2147483985" r:id="rId8"/>
    <p:sldLayoutId id="2147483986" r:id="rId9"/>
    <p:sldLayoutId id="2147483987" r:id="rId10"/>
    <p:sldLayoutId id="214748398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sr-Latn-RS" dirty="0" smtClean="0"/>
              <a:t>Backup/Restore kod Oracle baze podataka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sr-Latn-RS" dirty="0" smtClean="0"/>
              <a:t>Student:</a:t>
            </a:r>
          </a:p>
          <a:p>
            <a:r>
              <a:rPr lang="sr-Latn-RS" dirty="0" smtClean="0"/>
              <a:t>Maja Stojanović 1227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23191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219192"/>
            <a:ext cx="9692640" cy="1325562"/>
          </a:xfrm>
        </p:spPr>
        <p:txBody>
          <a:bodyPr/>
          <a:lstStyle/>
          <a:p>
            <a:r>
              <a:rPr lang="sr-Latn-RS" dirty="0" smtClean="0"/>
              <a:t>Sadržaj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61872" y="1816608"/>
            <a:ext cx="8595360" cy="4351337"/>
          </a:xfrm>
        </p:spPr>
        <p:txBody>
          <a:bodyPr/>
          <a:lstStyle/>
          <a:p>
            <a:r>
              <a:rPr lang="sr-Latn-RS" sz="2400" dirty="0" smtClean="0"/>
              <a:t>Uvod</a:t>
            </a:r>
          </a:p>
          <a:p>
            <a:r>
              <a:rPr lang="en-US" sz="2400" dirty="0" smtClean="0"/>
              <a:t>Oracle </a:t>
            </a:r>
            <a:r>
              <a:rPr lang="sr-Latn-RS" sz="2400" dirty="0" smtClean="0"/>
              <a:t>Backup rešenja</a:t>
            </a:r>
          </a:p>
          <a:p>
            <a:r>
              <a:rPr lang="sr-Latn-RS" sz="2400" dirty="0" smtClean="0"/>
              <a:t>RMAN </a:t>
            </a:r>
            <a:r>
              <a:rPr lang="sr-Latn-RS" sz="2400" dirty="0" smtClean="0"/>
              <a:t>Backup </a:t>
            </a:r>
            <a:r>
              <a:rPr lang="sr-Latn-RS" sz="2400" dirty="0" smtClean="0"/>
              <a:t>koncepti</a:t>
            </a:r>
          </a:p>
          <a:p>
            <a:r>
              <a:rPr lang="sr-Latn-RS" sz="2400" dirty="0" smtClean="0"/>
              <a:t>Primer </a:t>
            </a:r>
            <a:r>
              <a:rPr lang="sr-Latn-RS" sz="2400" dirty="0" smtClean="0"/>
              <a:t>Backup-a </a:t>
            </a:r>
            <a:r>
              <a:rPr lang="sr-Latn-RS" sz="2400" dirty="0" smtClean="0"/>
              <a:t>i </a:t>
            </a:r>
            <a:r>
              <a:rPr lang="sr-Latn-RS" sz="2400" dirty="0" smtClean="0"/>
              <a:t>Restore-a </a:t>
            </a:r>
            <a:r>
              <a:rPr lang="sr-Latn-RS" sz="2400" dirty="0" smtClean="0"/>
              <a:t>baze podataka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3205" y="2349383"/>
            <a:ext cx="4090416" cy="4090416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1776" y="0"/>
            <a:ext cx="3288703" cy="1849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79766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Uvod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/>
          </a:p>
          <a:p>
            <a:r>
              <a:rPr lang="en-US" dirty="0"/>
              <a:t>Backup </a:t>
            </a:r>
            <a:r>
              <a:rPr lang="en-US" dirty="0" err="1"/>
              <a:t>predstavlja</a:t>
            </a:r>
            <a:r>
              <a:rPr lang="en-US" dirty="0"/>
              <a:t> </a:t>
            </a:r>
            <a:r>
              <a:rPr lang="en-US" dirty="0" err="1"/>
              <a:t>proces</a:t>
            </a:r>
            <a:r>
              <a:rPr lang="en-US" dirty="0"/>
              <a:t> </a:t>
            </a:r>
            <a:r>
              <a:rPr lang="en-US" dirty="0" err="1"/>
              <a:t>kopiranja</a:t>
            </a:r>
            <a:r>
              <a:rPr lang="en-US" dirty="0"/>
              <a:t> </a:t>
            </a:r>
            <a:r>
              <a:rPr lang="en-US" dirty="0" err="1"/>
              <a:t>fajlova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podataka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jedne</a:t>
            </a:r>
            <a:r>
              <a:rPr lang="en-US" dirty="0"/>
              <a:t> </a:t>
            </a:r>
            <a:r>
              <a:rPr lang="en-US" dirty="0" err="1"/>
              <a:t>lokacije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drugu</a:t>
            </a:r>
            <a:r>
              <a:rPr lang="en-US" dirty="0"/>
              <a:t> </a:t>
            </a:r>
            <a:r>
              <a:rPr lang="en-US" dirty="0" err="1"/>
              <a:t>kako</a:t>
            </a:r>
            <a:r>
              <a:rPr lang="en-US" dirty="0"/>
              <a:t> bi u </a:t>
            </a:r>
            <a:r>
              <a:rPr lang="en-US" dirty="0" err="1"/>
              <a:t>slučaju</a:t>
            </a:r>
            <a:r>
              <a:rPr lang="en-US" dirty="0"/>
              <a:t> </a:t>
            </a:r>
            <a:r>
              <a:rPr lang="en-US" dirty="0" err="1"/>
              <a:t>različitih</a:t>
            </a:r>
            <a:r>
              <a:rPr lang="en-US" dirty="0"/>
              <a:t> </a:t>
            </a:r>
            <a:r>
              <a:rPr lang="en-US" dirty="0" err="1"/>
              <a:t>problema</a:t>
            </a:r>
            <a:r>
              <a:rPr lang="en-US" dirty="0"/>
              <a:t> </a:t>
            </a:r>
            <a:r>
              <a:rPr lang="en-US" dirty="0" err="1"/>
              <a:t>podaci</a:t>
            </a:r>
            <a:r>
              <a:rPr lang="en-US" dirty="0"/>
              <a:t> </a:t>
            </a:r>
            <a:r>
              <a:rPr lang="en-US" dirty="0" err="1"/>
              <a:t>ostali</a:t>
            </a:r>
            <a:r>
              <a:rPr lang="en-US" dirty="0"/>
              <a:t> </a:t>
            </a:r>
            <a:r>
              <a:rPr lang="en-US" dirty="0" err="1"/>
              <a:t>sačuvani</a:t>
            </a:r>
            <a:r>
              <a:rPr lang="en-US" dirty="0"/>
              <a:t>. </a:t>
            </a:r>
            <a:endParaRPr lang="sr-Latn-RS" dirty="0" smtClean="0"/>
          </a:p>
          <a:p>
            <a:r>
              <a:rPr lang="en-US" dirty="0" err="1" smtClean="0"/>
              <a:t>Podjednako</a:t>
            </a:r>
            <a:r>
              <a:rPr lang="en-US" dirty="0" smtClean="0"/>
              <a:t> </a:t>
            </a:r>
            <a:r>
              <a:rPr lang="en-US" dirty="0"/>
              <a:t>je </a:t>
            </a:r>
            <a:r>
              <a:rPr lang="en-US" dirty="0" err="1"/>
              <a:t>važan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process </a:t>
            </a:r>
            <a:r>
              <a:rPr lang="en-US" dirty="0" err="1"/>
              <a:t>oporavka</a:t>
            </a:r>
            <a:r>
              <a:rPr lang="en-US" dirty="0"/>
              <a:t> same </a:t>
            </a:r>
            <a:r>
              <a:rPr lang="en-US" dirty="0" err="1"/>
              <a:t>baze</a:t>
            </a:r>
            <a:r>
              <a:rPr lang="en-US" dirty="0"/>
              <a:t> </a:t>
            </a:r>
            <a:r>
              <a:rPr lang="en-US" dirty="0" err="1"/>
              <a:t>podataka</a:t>
            </a:r>
            <a:r>
              <a:rPr lang="en-US" dirty="0"/>
              <a:t> </a:t>
            </a:r>
            <a:r>
              <a:rPr lang="en-US" dirty="0" err="1"/>
              <a:t>kada</a:t>
            </a:r>
            <a:r>
              <a:rPr lang="en-US" dirty="0"/>
              <a:t> se </a:t>
            </a:r>
            <a:r>
              <a:rPr lang="en-US" dirty="0" err="1"/>
              <a:t>desi</a:t>
            </a:r>
            <a:r>
              <a:rPr lang="en-US" dirty="0"/>
              <a:t> problem. </a:t>
            </a:r>
            <a:endParaRPr lang="sr-Latn-RS" dirty="0" smtClean="0"/>
          </a:p>
          <a:p>
            <a:r>
              <a:rPr lang="en-US" dirty="0" err="1"/>
              <a:t>Centralni</a:t>
            </a:r>
            <a:r>
              <a:rPr lang="en-US" dirty="0"/>
              <a:t> </a:t>
            </a:r>
            <a:r>
              <a:rPr lang="en-US" dirty="0" err="1"/>
              <a:t>koncept</a:t>
            </a:r>
            <a:r>
              <a:rPr lang="en-US" dirty="0"/>
              <a:t> </a:t>
            </a:r>
            <a:r>
              <a:rPr lang="en-US" dirty="0" err="1"/>
              <a:t>kada</a:t>
            </a:r>
            <a:r>
              <a:rPr lang="en-US" dirty="0"/>
              <a:t> je u </a:t>
            </a:r>
            <a:r>
              <a:rPr lang="en-US" dirty="0" err="1"/>
              <a:t>pitanju</a:t>
            </a:r>
            <a:r>
              <a:rPr lang="en-US" dirty="0"/>
              <a:t> </a:t>
            </a:r>
            <a:r>
              <a:rPr lang="en-US" dirty="0" err="1"/>
              <a:t>pravljenje</a:t>
            </a:r>
            <a:r>
              <a:rPr lang="en-US" dirty="0"/>
              <a:t> backup-a je </a:t>
            </a:r>
            <a:r>
              <a:rPr lang="en-US" dirty="0" err="1"/>
              <a:t>strategija</a:t>
            </a:r>
            <a:r>
              <a:rPr lang="en-US" dirty="0"/>
              <a:t> </a:t>
            </a:r>
            <a:r>
              <a:rPr lang="en-US" dirty="0" err="1"/>
              <a:t>pravljenja</a:t>
            </a:r>
            <a:r>
              <a:rPr lang="en-US" dirty="0"/>
              <a:t> backup-a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strategije</a:t>
            </a:r>
            <a:r>
              <a:rPr lang="en-US" dirty="0"/>
              <a:t> </a:t>
            </a:r>
            <a:r>
              <a:rPr lang="en-US" dirty="0" err="1"/>
              <a:t>oporavka</a:t>
            </a:r>
            <a:r>
              <a:rPr lang="en-US" dirty="0"/>
              <a:t>. </a:t>
            </a:r>
            <a:r>
              <a:rPr lang="en-US" dirty="0" err="1"/>
              <a:t>Dobre</a:t>
            </a:r>
            <a:r>
              <a:rPr lang="en-US" dirty="0"/>
              <a:t> </a:t>
            </a:r>
            <a:r>
              <a:rPr lang="en-US" dirty="0" err="1"/>
              <a:t>strategije</a:t>
            </a:r>
            <a:r>
              <a:rPr lang="en-US" dirty="0"/>
              <a:t> </a:t>
            </a:r>
            <a:r>
              <a:rPr lang="en-US" dirty="0" err="1"/>
              <a:t>pravljanje</a:t>
            </a:r>
            <a:r>
              <a:rPr lang="en-US" dirty="0"/>
              <a:t> backup-a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oporavka</a:t>
            </a:r>
            <a:r>
              <a:rPr lang="en-US" dirty="0"/>
              <a:t> </a:t>
            </a:r>
            <a:r>
              <a:rPr lang="en-US" dirty="0" err="1"/>
              <a:t>uključuju</a:t>
            </a:r>
            <a:r>
              <a:rPr lang="en-US" dirty="0"/>
              <a:t> </a:t>
            </a:r>
            <a:r>
              <a:rPr lang="en-US" dirty="0" err="1"/>
              <a:t>pažljivo</a:t>
            </a:r>
            <a:r>
              <a:rPr lang="en-US" dirty="0"/>
              <a:t> </a:t>
            </a:r>
            <a:r>
              <a:rPr lang="en-US" dirty="0" err="1"/>
              <a:t>planiranje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razmišljanje</a:t>
            </a:r>
            <a:r>
              <a:rPr lang="en-US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089434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sr-Latn-RS" dirty="0" smtClean="0"/>
              <a:t>Oracle Backup i recovery rešenja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61871" y="1828800"/>
            <a:ext cx="8807161" cy="4351337"/>
          </a:xfrm>
        </p:spPr>
        <p:txBody>
          <a:bodyPr/>
          <a:lstStyle/>
          <a:p>
            <a:r>
              <a:rPr lang="sr-Latn-RS" b="1" dirty="0" smtClean="0"/>
              <a:t>Menadžer oporavka (RMAN)- </a:t>
            </a:r>
            <a:r>
              <a:rPr lang="sr-Latn-RS" dirty="0" smtClean="0"/>
              <a:t>RMAN je u potpunosti integrisan sa Oracle bazom podataka kako bi izvršio niz aktivnosti pravljena backup-a i recovery-a.</a:t>
            </a:r>
          </a:p>
          <a:p>
            <a:pPr marL="0" indent="0">
              <a:buNone/>
            </a:pPr>
            <a:endParaRPr lang="sr-Latn-RS" dirty="0" smtClean="0"/>
          </a:p>
          <a:p>
            <a:r>
              <a:rPr lang="sr-Latn-RS" b="1" dirty="0" smtClean="0"/>
              <a:t>User-managed backup i recovery- </a:t>
            </a:r>
            <a:r>
              <a:rPr lang="sr-Latn-RS" dirty="0" smtClean="0"/>
              <a:t>podrazumeva backup i recovery uz korišćenje komandi host operativnog sistema i </a:t>
            </a:r>
            <a:r>
              <a:rPr lang="en-US" dirty="0"/>
              <a:t>SQL*Plus recovery </a:t>
            </a:r>
            <a:r>
              <a:rPr lang="en-US" dirty="0" err="1" smtClean="0"/>
              <a:t>komande</a:t>
            </a:r>
            <a:r>
              <a:rPr lang="sr-Latn-RS" dirty="0" smtClean="0"/>
              <a:t>.</a:t>
            </a:r>
          </a:p>
          <a:p>
            <a:pPr marL="0" indent="0">
              <a:buNone/>
            </a:pPr>
            <a:endParaRPr lang="sr-Latn-RS" dirty="0" smtClean="0"/>
          </a:p>
          <a:p>
            <a:r>
              <a:rPr lang="sr-Latn-RS" b="1" dirty="0" smtClean="0"/>
              <a:t>Data Pump Export/Import- </a:t>
            </a:r>
            <a:r>
              <a:rPr lang="sr-Latn-RS" dirty="0" smtClean="0"/>
              <a:t>može se koristiti i logički backup objekata šema korišćenjem Data Pump Export-a, dok se Data Pump Import može koristiti da se podaci rekreiraju nakon restora i recovery-a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88784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sr-Latn-RS" dirty="0" smtClean="0"/>
              <a:t>RMAN backup koncepti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dirty="0" smtClean="0"/>
              <a:t>RMAN komanda za pravljenje backup-a je BACKUP i omogućava backup sledećih fajlova:</a:t>
            </a:r>
          </a:p>
          <a:p>
            <a:pPr lvl="1"/>
            <a:r>
              <a:rPr lang="sr-Latn-RS" dirty="0"/>
              <a:t>Datafile-ova i control file-ova</a:t>
            </a:r>
          </a:p>
          <a:p>
            <a:pPr lvl="1"/>
            <a:r>
              <a:rPr lang="sr-Latn-RS" dirty="0"/>
              <a:t>Server parameter file-a</a:t>
            </a:r>
          </a:p>
          <a:p>
            <a:pPr lvl="1"/>
            <a:r>
              <a:rPr lang="sr-Latn-RS" dirty="0"/>
              <a:t>Archived redo log-ova</a:t>
            </a:r>
          </a:p>
          <a:p>
            <a:pPr lvl="1"/>
            <a:r>
              <a:rPr lang="sr-Latn-RS" dirty="0"/>
              <a:t>RMAN backup-ova</a:t>
            </a:r>
          </a:p>
          <a:p>
            <a:r>
              <a:rPr lang="sr-Latn-RS" dirty="0" smtClean="0"/>
              <a:t>Izlaz naredbe BACKUP je jedan ili više backup setova ili jedna ili više image kopija.</a:t>
            </a:r>
          </a:p>
          <a:p>
            <a:r>
              <a:rPr lang="sr-Latn-RS" dirty="0" smtClean="0"/>
              <a:t>RMAN podrazumevano kreira backup setove</a:t>
            </a:r>
          </a:p>
          <a:p>
            <a:pPr marL="274320" lvl="1" indent="0">
              <a:buNone/>
            </a:pPr>
            <a:endParaRPr lang="sr-Latn-RS" dirty="0" smtClean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72294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Backup setovi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dirty="0" smtClean="0"/>
              <a:t>Logičke strukture u koje RMAN skladišti backup podatke</a:t>
            </a:r>
          </a:p>
          <a:p>
            <a:r>
              <a:rPr lang="sr-Latn-RS" dirty="0" smtClean="0"/>
              <a:t>Predstavljaju najmanju jedinicu RMAN backup-a</a:t>
            </a:r>
          </a:p>
          <a:p>
            <a:r>
              <a:rPr lang="sr-Latn-RS" dirty="0" smtClean="0"/>
              <a:t>Sadrže podatke iz jednog ili više data file-a, archived redo logova, control file-ova ili server parameter file-ova</a:t>
            </a:r>
          </a:p>
          <a:p>
            <a:r>
              <a:rPr lang="sr-Latn-RS" dirty="0" smtClean="0"/>
              <a:t>Sadrži jedan ili više binarnih fajlova u formatu koji je specifičan za RMAN- Backup piece</a:t>
            </a:r>
          </a:p>
          <a:p>
            <a:r>
              <a:rPr lang="sr-Latn-RS" dirty="0" smtClean="0"/>
              <a:t>Backup set može da sadrži više data file-ova</a:t>
            </a:r>
          </a:p>
        </p:txBody>
      </p:sp>
    </p:spTree>
    <p:extLst>
      <p:ext uri="{BB962C8B-B14F-4D97-AF65-F5344CB8AC3E}">
        <p14:creationId xmlns:p14="http://schemas.microsoft.com/office/powerpoint/2010/main" val="16476564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Image kopija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Image </a:t>
            </a:r>
            <a:r>
              <a:rPr lang="en-US" dirty="0" err="1"/>
              <a:t>kopija</a:t>
            </a:r>
            <a:r>
              <a:rPr lang="en-US" dirty="0"/>
              <a:t> je </a:t>
            </a:r>
            <a:r>
              <a:rPr lang="en-US" dirty="0" err="1"/>
              <a:t>tačna</a:t>
            </a:r>
            <a:r>
              <a:rPr lang="en-US" dirty="0"/>
              <a:t> </a:t>
            </a:r>
            <a:r>
              <a:rPr lang="en-US" dirty="0" err="1"/>
              <a:t>kopija</a:t>
            </a:r>
            <a:r>
              <a:rPr lang="en-US" dirty="0"/>
              <a:t> </a:t>
            </a:r>
            <a:r>
              <a:rPr lang="en-US" dirty="0" err="1"/>
              <a:t>pojedinačnog</a:t>
            </a:r>
            <a:r>
              <a:rPr lang="en-US" dirty="0"/>
              <a:t> data file-a, archived redo log file-a </a:t>
            </a:r>
            <a:r>
              <a:rPr lang="en-US" dirty="0" err="1"/>
              <a:t>ili</a:t>
            </a:r>
            <a:r>
              <a:rPr lang="en-US" dirty="0"/>
              <a:t> control file-a. </a:t>
            </a:r>
            <a:endParaRPr lang="sr-Latn-RS" dirty="0" smtClean="0"/>
          </a:p>
          <a:p>
            <a:r>
              <a:rPr lang="en-US" dirty="0" smtClean="0"/>
              <a:t>Image </a:t>
            </a:r>
            <a:r>
              <a:rPr lang="en-US" dirty="0" err="1"/>
              <a:t>kopije</a:t>
            </a:r>
            <a:r>
              <a:rPr lang="en-US" dirty="0"/>
              <a:t> se ne </a:t>
            </a:r>
            <a:r>
              <a:rPr lang="en-US" dirty="0" err="1"/>
              <a:t>skladište</a:t>
            </a:r>
            <a:r>
              <a:rPr lang="en-US" dirty="0"/>
              <a:t> u RMAN </a:t>
            </a:r>
            <a:r>
              <a:rPr lang="en-US" dirty="0" err="1"/>
              <a:t>specifičnom</a:t>
            </a:r>
            <a:r>
              <a:rPr lang="en-US" dirty="0"/>
              <a:t> </a:t>
            </a:r>
            <a:r>
              <a:rPr lang="en-US" dirty="0" err="1"/>
              <a:t>formatu</a:t>
            </a:r>
            <a:r>
              <a:rPr lang="en-US" dirty="0"/>
              <a:t>. </a:t>
            </a:r>
            <a:endParaRPr lang="sr-Latn-RS" dirty="0" smtClean="0"/>
          </a:p>
          <a:p>
            <a:r>
              <a:rPr lang="en-US" dirty="0" err="1" smtClean="0"/>
              <a:t>Identične</a:t>
            </a:r>
            <a:r>
              <a:rPr lang="en-US" dirty="0" smtClean="0"/>
              <a:t> </a:t>
            </a:r>
            <a:r>
              <a:rPr lang="en-US" dirty="0" err="1"/>
              <a:t>su</a:t>
            </a:r>
            <a:r>
              <a:rPr lang="en-US" dirty="0"/>
              <a:t> </a:t>
            </a:r>
            <a:r>
              <a:rPr lang="en-US" dirty="0" err="1"/>
              <a:t>rezultatima</a:t>
            </a:r>
            <a:r>
              <a:rPr lang="en-US" dirty="0"/>
              <a:t> </a:t>
            </a:r>
            <a:r>
              <a:rPr lang="en-US" dirty="0" err="1"/>
              <a:t>kopiranja</a:t>
            </a:r>
            <a:r>
              <a:rPr lang="en-US" dirty="0"/>
              <a:t> </a:t>
            </a:r>
            <a:r>
              <a:rPr lang="en-US" dirty="0" err="1"/>
              <a:t>fajl</a:t>
            </a:r>
            <a:r>
              <a:rPr lang="en-US" dirty="0"/>
              <a:t> </a:t>
            </a:r>
            <a:r>
              <a:rPr lang="en-US" dirty="0" err="1"/>
              <a:t>korišćenjem</a:t>
            </a:r>
            <a:r>
              <a:rPr lang="en-US" dirty="0"/>
              <a:t> </a:t>
            </a:r>
            <a:r>
              <a:rPr lang="en-US" dirty="0" err="1"/>
              <a:t>komandi</a:t>
            </a:r>
            <a:r>
              <a:rPr lang="en-US" dirty="0"/>
              <a:t> </a:t>
            </a:r>
            <a:r>
              <a:rPr lang="en-US" dirty="0" err="1"/>
              <a:t>operativnog</a:t>
            </a:r>
            <a:r>
              <a:rPr lang="en-US" dirty="0"/>
              <a:t> </a:t>
            </a:r>
            <a:r>
              <a:rPr lang="en-US" dirty="0" err="1"/>
              <a:t>sistema</a:t>
            </a:r>
            <a:r>
              <a:rPr lang="en-US" dirty="0"/>
              <a:t>. </a:t>
            </a:r>
            <a:endParaRPr lang="sr-Latn-RS" dirty="0" smtClean="0"/>
          </a:p>
          <a:p>
            <a:r>
              <a:rPr lang="en-US" dirty="0" smtClean="0"/>
              <a:t>RMAN </a:t>
            </a:r>
            <a:r>
              <a:rPr lang="en-US" dirty="0" err="1"/>
              <a:t>može</a:t>
            </a:r>
            <a:r>
              <a:rPr lang="en-US" dirty="0"/>
              <a:t> da </a:t>
            </a:r>
            <a:r>
              <a:rPr lang="en-US" dirty="0" err="1"/>
              <a:t>koristi</a:t>
            </a:r>
            <a:r>
              <a:rPr lang="en-US" dirty="0"/>
              <a:t> image </a:t>
            </a:r>
            <a:r>
              <a:rPr lang="en-US" dirty="0" err="1"/>
              <a:t>kopije</a:t>
            </a:r>
            <a:r>
              <a:rPr lang="en-US" dirty="0"/>
              <a:t> </a:t>
            </a:r>
            <a:r>
              <a:rPr lang="en-US" dirty="0" err="1"/>
              <a:t>tokom</a:t>
            </a:r>
            <a:r>
              <a:rPr lang="en-US" dirty="0"/>
              <a:t> RMAN restore </a:t>
            </a:r>
            <a:r>
              <a:rPr lang="en-US" dirty="0" err="1"/>
              <a:t>i</a:t>
            </a:r>
            <a:r>
              <a:rPr lang="en-US" dirty="0"/>
              <a:t> recover </a:t>
            </a:r>
            <a:r>
              <a:rPr lang="en-US" dirty="0" err="1"/>
              <a:t>operacija</a:t>
            </a:r>
            <a:r>
              <a:rPr lang="en-US" dirty="0"/>
              <a:t>, </a:t>
            </a:r>
            <a:r>
              <a:rPr lang="en-US" dirty="0" err="1"/>
              <a:t>takođe</a:t>
            </a:r>
            <a:r>
              <a:rPr lang="en-US" dirty="0"/>
              <a:t> image </a:t>
            </a:r>
            <a:r>
              <a:rPr lang="en-US" dirty="0" err="1"/>
              <a:t>kopije</a:t>
            </a:r>
            <a:r>
              <a:rPr lang="en-US" dirty="0"/>
              <a:t> se </a:t>
            </a:r>
            <a:r>
              <a:rPr lang="en-US" dirty="0" err="1"/>
              <a:t>mogu</a:t>
            </a:r>
            <a:r>
              <a:rPr lang="en-US" dirty="0"/>
              <a:t> </a:t>
            </a:r>
            <a:r>
              <a:rPr lang="en-US" dirty="0" err="1"/>
              <a:t>koristiti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non-RMAN restore </a:t>
            </a:r>
            <a:r>
              <a:rPr lang="en-US" dirty="0" err="1"/>
              <a:t>i</a:t>
            </a:r>
            <a:r>
              <a:rPr lang="en-US" dirty="0"/>
              <a:t> recovery </a:t>
            </a:r>
            <a:r>
              <a:rPr lang="en-US" dirty="0" err="1"/>
              <a:t>tehnikama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049790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sr-Latn-RS" dirty="0" smtClean="0"/>
              <a:t>Konzistenti i nekonzistentni backup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b="1" dirty="0" smtClean="0"/>
              <a:t>Konzistentni backup</a:t>
            </a:r>
            <a:r>
              <a:rPr lang="sr-Latn-RS" dirty="0" smtClean="0"/>
              <a:t>: javlja se kada je baza podataka u konzistentnom stanju na</a:t>
            </a:r>
            <a:r>
              <a:rPr lang="en-US" dirty="0" err="1" smtClean="0"/>
              <a:t>kon</a:t>
            </a:r>
            <a:r>
              <a:rPr lang="en-US" dirty="0" smtClean="0"/>
              <a:t> </a:t>
            </a:r>
            <a:r>
              <a:rPr lang="en-US" dirty="0" err="1"/>
              <a:t>što</a:t>
            </a:r>
            <a:r>
              <a:rPr lang="en-US" dirty="0"/>
              <a:t> je </a:t>
            </a:r>
            <a:r>
              <a:rPr lang="en-US" dirty="0" err="1"/>
              <a:t>ugašena</a:t>
            </a:r>
            <a:r>
              <a:rPr lang="en-US" dirty="0"/>
              <a:t> </a:t>
            </a:r>
            <a:r>
              <a:rPr lang="en-US" dirty="0" err="1"/>
              <a:t>komandama</a:t>
            </a:r>
            <a:r>
              <a:rPr lang="en-US" dirty="0"/>
              <a:t> SHUTDOWN NORMAL, SHUTDOWN IMMEDIATE </a:t>
            </a:r>
            <a:r>
              <a:rPr lang="en-US" dirty="0" err="1"/>
              <a:t>ili</a:t>
            </a:r>
            <a:r>
              <a:rPr lang="en-US" dirty="0"/>
              <a:t> SHUTDOWN TRANSACTIONAL. </a:t>
            </a:r>
            <a:r>
              <a:rPr lang="en-US" dirty="0" err="1"/>
              <a:t>Ovakvo</a:t>
            </a:r>
            <a:r>
              <a:rPr lang="en-US" dirty="0"/>
              <a:t> </a:t>
            </a:r>
            <a:r>
              <a:rPr lang="en-US" dirty="0" err="1"/>
              <a:t>gašenje</a:t>
            </a:r>
            <a:r>
              <a:rPr lang="en-US" dirty="0"/>
              <a:t> </a:t>
            </a:r>
            <a:r>
              <a:rPr lang="en-US" dirty="0" err="1"/>
              <a:t>garantuje</a:t>
            </a:r>
            <a:r>
              <a:rPr lang="en-US" dirty="0"/>
              <a:t> da </a:t>
            </a:r>
            <a:r>
              <a:rPr lang="en-US" dirty="0" err="1"/>
              <a:t>su</a:t>
            </a:r>
            <a:r>
              <a:rPr lang="en-US" dirty="0"/>
              <a:t> </a:t>
            </a:r>
            <a:r>
              <a:rPr lang="en-US" dirty="0" err="1"/>
              <a:t>sve</a:t>
            </a:r>
            <a:r>
              <a:rPr lang="en-US" dirty="0"/>
              <a:t> redo </a:t>
            </a:r>
            <a:r>
              <a:rPr lang="en-US" dirty="0" err="1"/>
              <a:t>primenjene</a:t>
            </a:r>
            <a:r>
              <a:rPr lang="en-US" dirty="0"/>
              <a:t> </a:t>
            </a:r>
            <a:r>
              <a:rPr lang="en-US" dirty="0" err="1"/>
              <a:t>nad</a:t>
            </a:r>
            <a:r>
              <a:rPr lang="en-US" dirty="0"/>
              <a:t> </a:t>
            </a:r>
            <a:r>
              <a:rPr lang="en-US" dirty="0" err="1"/>
              <a:t>datafile-ovima</a:t>
            </a:r>
            <a:r>
              <a:rPr lang="en-US" dirty="0" smtClean="0"/>
              <a:t>.</a:t>
            </a:r>
            <a:endParaRPr lang="sr-Latn-RS" dirty="0" smtClean="0"/>
          </a:p>
          <a:p>
            <a:endParaRPr lang="sr-Latn-RS" dirty="0"/>
          </a:p>
          <a:p>
            <a:r>
              <a:rPr lang="sr-Latn-RS" b="1" dirty="0" smtClean="0"/>
              <a:t>Inkonzistentni backup</a:t>
            </a:r>
            <a:r>
              <a:rPr lang="sr-Latn-RS" dirty="0" smtClean="0"/>
              <a:t>: backup koji se uradi kada je baza podataka otvorena, nakon pada insta</a:t>
            </a:r>
            <a:r>
              <a:rPr lang="en-US" dirty="0" smtClean="0"/>
              <a:t>n</a:t>
            </a:r>
            <a:r>
              <a:rPr lang="sr-Latn-RS" dirty="0" smtClean="0"/>
              <a:t>ce ili SHUTDOWN ABORT komande.</a:t>
            </a:r>
            <a:r>
              <a:rPr lang="en-US" dirty="0"/>
              <a:t> </a:t>
            </a:r>
            <a:r>
              <a:rPr lang="en-US" dirty="0" err="1"/>
              <a:t>Kada</a:t>
            </a:r>
            <a:r>
              <a:rPr lang="en-US" dirty="0"/>
              <a:t> je </a:t>
            </a:r>
            <a:r>
              <a:rPr lang="en-US" dirty="0" err="1"/>
              <a:t>baza</a:t>
            </a:r>
            <a:r>
              <a:rPr lang="en-US" dirty="0"/>
              <a:t> </a:t>
            </a:r>
            <a:r>
              <a:rPr lang="en-US" dirty="0" err="1"/>
              <a:t>podataka</a:t>
            </a:r>
            <a:r>
              <a:rPr lang="en-US" dirty="0"/>
              <a:t> </a:t>
            </a:r>
            <a:r>
              <a:rPr lang="en-US" dirty="0" err="1"/>
              <a:t>restorovana</a:t>
            </a:r>
            <a:r>
              <a:rPr lang="en-US" dirty="0"/>
              <a:t> </a:t>
            </a:r>
            <a:r>
              <a:rPr lang="en-US" dirty="0" err="1"/>
              <a:t>korišćenjem</a:t>
            </a:r>
            <a:r>
              <a:rPr lang="en-US" dirty="0"/>
              <a:t> inconsistent backup-a, Oracle </a:t>
            </a:r>
            <a:r>
              <a:rPr lang="en-US" dirty="0" err="1"/>
              <a:t>baza</a:t>
            </a:r>
            <a:r>
              <a:rPr lang="en-US" dirty="0"/>
              <a:t> </a:t>
            </a:r>
            <a:r>
              <a:rPr lang="en-US" dirty="0" err="1"/>
              <a:t>mora</a:t>
            </a:r>
            <a:r>
              <a:rPr lang="en-US" dirty="0"/>
              <a:t> </a:t>
            </a:r>
            <a:r>
              <a:rPr lang="en-US" dirty="0" err="1"/>
              <a:t>izvršiti</a:t>
            </a:r>
            <a:r>
              <a:rPr lang="en-US" dirty="0"/>
              <a:t> media recovery pre </a:t>
            </a:r>
            <a:r>
              <a:rPr lang="en-US" dirty="0" err="1"/>
              <a:t>nego</a:t>
            </a:r>
            <a:r>
              <a:rPr lang="en-US" dirty="0"/>
              <a:t> </a:t>
            </a:r>
            <a:r>
              <a:rPr lang="en-US" dirty="0" err="1"/>
              <a:t>što</a:t>
            </a:r>
            <a:r>
              <a:rPr lang="en-US" dirty="0"/>
              <a:t> </a:t>
            </a:r>
            <a:r>
              <a:rPr lang="en-US" dirty="0" err="1"/>
              <a:t>baza</a:t>
            </a:r>
            <a:r>
              <a:rPr lang="en-US" dirty="0"/>
              <a:t> </a:t>
            </a:r>
            <a:r>
              <a:rPr lang="en-US" dirty="0" err="1"/>
              <a:t>bude</a:t>
            </a:r>
            <a:r>
              <a:rPr lang="en-US" dirty="0"/>
              <a:t> </a:t>
            </a:r>
            <a:r>
              <a:rPr lang="en-US" dirty="0" err="1"/>
              <a:t>pokrenuta</a:t>
            </a:r>
            <a:r>
              <a:rPr lang="en-US" dirty="0"/>
              <a:t> (</a:t>
            </a:r>
            <a:r>
              <a:rPr lang="en-US" dirty="0" err="1"/>
              <a:t>otvorena</a:t>
            </a:r>
            <a:r>
              <a:rPr lang="en-US" dirty="0"/>
              <a:t>), </a:t>
            </a:r>
            <a:r>
              <a:rPr lang="en-US" dirty="0" err="1"/>
              <a:t>primenjujući</a:t>
            </a:r>
            <a:r>
              <a:rPr lang="en-US" dirty="0"/>
              <a:t> </a:t>
            </a:r>
            <a:r>
              <a:rPr lang="en-US" dirty="0" err="1"/>
              <a:t>sve</a:t>
            </a:r>
            <a:r>
              <a:rPr lang="en-US" dirty="0"/>
              <a:t> </a:t>
            </a:r>
            <a:r>
              <a:rPr lang="en-US" dirty="0" err="1"/>
              <a:t>promene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čekanju</a:t>
            </a:r>
            <a:r>
              <a:rPr lang="en-US" dirty="0"/>
              <a:t> </a:t>
            </a:r>
            <a:r>
              <a:rPr lang="en-US" dirty="0" err="1"/>
              <a:t>iz</a:t>
            </a:r>
            <a:r>
              <a:rPr lang="en-US" dirty="0"/>
              <a:t> redo log-ova</a:t>
            </a:r>
          </a:p>
        </p:txBody>
      </p:sp>
    </p:spTree>
    <p:extLst>
      <p:ext uri="{BB962C8B-B14F-4D97-AF65-F5344CB8AC3E}">
        <p14:creationId xmlns:p14="http://schemas.microsoft.com/office/powerpoint/2010/main" val="29013524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Inkrementalni Backup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dirty="0" smtClean="0"/>
              <a:t>Podrazumevano RMAN kreira full backup-ove</a:t>
            </a:r>
          </a:p>
          <a:p>
            <a:r>
              <a:rPr lang="en-US" dirty="0"/>
              <a:t>Full backup data file-a </a:t>
            </a:r>
            <a:r>
              <a:rPr lang="en-US" dirty="0" err="1"/>
              <a:t>može</a:t>
            </a:r>
            <a:r>
              <a:rPr lang="en-US" dirty="0"/>
              <a:t> da </a:t>
            </a:r>
            <a:r>
              <a:rPr lang="en-US" dirty="0" err="1"/>
              <a:t>bude</a:t>
            </a:r>
            <a:r>
              <a:rPr lang="en-US" dirty="0"/>
              <a:t> image </a:t>
            </a:r>
            <a:r>
              <a:rPr lang="en-US" dirty="0" err="1"/>
              <a:t>kopija</a:t>
            </a:r>
            <a:r>
              <a:rPr lang="en-US" dirty="0"/>
              <a:t>, u tom </a:t>
            </a:r>
            <a:r>
              <a:rPr lang="en-US" dirty="0" err="1"/>
              <a:t>slučaju</a:t>
            </a:r>
            <a:r>
              <a:rPr lang="en-US" dirty="0"/>
              <a:t> </a:t>
            </a:r>
            <a:r>
              <a:rPr lang="en-US" dirty="0" err="1"/>
              <a:t>svaki</a:t>
            </a:r>
            <a:r>
              <a:rPr lang="en-US" dirty="0"/>
              <a:t> data </a:t>
            </a:r>
            <a:r>
              <a:rPr lang="en-US" dirty="0" err="1"/>
              <a:t>blok</a:t>
            </a:r>
            <a:r>
              <a:rPr lang="en-US" dirty="0"/>
              <a:t> je backup-</a:t>
            </a:r>
            <a:r>
              <a:rPr lang="en-US" dirty="0" err="1"/>
              <a:t>ovan.Takođe</a:t>
            </a:r>
            <a:r>
              <a:rPr lang="en-US" dirty="0"/>
              <a:t> se </a:t>
            </a:r>
            <a:r>
              <a:rPr lang="en-US" dirty="0" err="1"/>
              <a:t>može</a:t>
            </a:r>
            <a:r>
              <a:rPr lang="en-US" dirty="0"/>
              <a:t> </a:t>
            </a:r>
            <a:r>
              <a:rPr lang="en-US" dirty="0" err="1"/>
              <a:t>skladištiti</a:t>
            </a:r>
            <a:r>
              <a:rPr lang="en-US" dirty="0"/>
              <a:t> u backup </a:t>
            </a:r>
            <a:r>
              <a:rPr lang="en-US" dirty="0" err="1"/>
              <a:t>setu</a:t>
            </a:r>
            <a:r>
              <a:rPr lang="en-US" dirty="0"/>
              <a:t>, u tom </a:t>
            </a:r>
            <a:r>
              <a:rPr lang="en-US" dirty="0" err="1"/>
              <a:t>slučaju</a:t>
            </a:r>
            <a:r>
              <a:rPr lang="en-US" dirty="0"/>
              <a:t> data file </a:t>
            </a:r>
            <a:r>
              <a:rPr lang="en-US" dirty="0" err="1"/>
              <a:t>blokovi</a:t>
            </a:r>
            <a:r>
              <a:rPr lang="en-US" dirty="0"/>
              <a:t> </a:t>
            </a:r>
            <a:r>
              <a:rPr lang="en-US" dirty="0" err="1"/>
              <a:t>koji</a:t>
            </a:r>
            <a:r>
              <a:rPr lang="en-US" dirty="0"/>
              <a:t> se ne </a:t>
            </a:r>
            <a:r>
              <a:rPr lang="en-US" dirty="0" err="1"/>
              <a:t>koriste</a:t>
            </a:r>
            <a:r>
              <a:rPr lang="en-US" dirty="0"/>
              <a:t> </a:t>
            </a:r>
            <a:r>
              <a:rPr lang="en-US" dirty="0" err="1"/>
              <a:t>mogu</a:t>
            </a:r>
            <a:r>
              <a:rPr lang="en-US" dirty="0"/>
              <a:t> </a:t>
            </a:r>
            <a:r>
              <a:rPr lang="en-US" dirty="0" err="1"/>
              <a:t>biti</a:t>
            </a:r>
            <a:r>
              <a:rPr lang="en-US" dirty="0"/>
              <a:t> </a:t>
            </a:r>
            <a:r>
              <a:rPr lang="en-US" dirty="0" err="1"/>
              <a:t>preskočeni</a:t>
            </a:r>
            <a:r>
              <a:rPr lang="en-US" dirty="0" smtClean="0"/>
              <a:t>.</a:t>
            </a:r>
            <a:endParaRPr lang="sr-Latn-RS" dirty="0" smtClean="0"/>
          </a:p>
          <a:p>
            <a:r>
              <a:rPr lang="sr-Latn-RS" dirty="0" smtClean="0"/>
              <a:t>Inkrementalni </a:t>
            </a:r>
            <a:r>
              <a:rPr lang="en-US" dirty="0" smtClean="0"/>
              <a:t>backup </a:t>
            </a:r>
            <a:r>
              <a:rPr lang="en-US" dirty="0" err="1" smtClean="0"/>
              <a:t>kopira</a:t>
            </a:r>
            <a:r>
              <a:rPr lang="en-US" dirty="0" smtClean="0"/>
              <a:t> </a:t>
            </a:r>
            <a:r>
              <a:rPr lang="en-US" dirty="0" err="1" smtClean="0"/>
              <a:t>samo</a:t>
            </a:r>
            <a:r>
              <a:rPr lang="en-US" dirty="0" smtClean="0"/>
              <a:t> one data block-</a:t>
            </a:r>
            <a:r>
              <a:rPr lang="en-US" dirty="0" err="1" smtClean="0"/>
              <a:t>ove</a:t>
            </a:r>
            <a:r>
              <a:rPr lang="en-US" dirty="0" smtClean="0"/>
              <a:t> </a:t>
            </a:r>
            <a:r>
              <a:rPr lang="en-US" dirty="0" err="1" smtClean="0"/>
              <a:t>koji</a:t>
            </a:r>
            <a:r>
              <a:rPr lang="en-US" dirty="0" smtClean="0"/>
              <a:t> </a:t>
            </a:r>
            <a:r>
              <a:rPr lang="en-US" dirty="0" err="1" smtClean="0"/>
              <a:t>su</a:t>
            </a:r>
            <a:r>
              <a:rPr lang="en-US" dirty="0" smtClean="0"/>
              <a:t> se </a:t>
            </a:r>
            <a:r>
              <a:rPr lang="en-US" dirty="0" err="1" smtClean="0"/>
              <a:t>promenili</a:t>
            </a:r>
            <a:r>
              <a:rPr lang="en-US" dirty="0" smtClean="0"/>
              <a:t> u </a:t>
            </a:r>
            <a:r>
              <a:rPr lang="en-US" dirty="0" err="1" smtClean="0"/>
              <a:t>odnosu</a:t>
            </a:r>
            <a:r>
              <a:rPr lang="en-US" dirty="0" smtClean="0"/>
              <a:t> </a:t>
            </a:r>
            <a:r>
              <a:rPr lang="en-US" dirty="0" err="1" smtClean="0"/>
              <a:t>na</a:t>
            </a:r>
            <a:r>
              <a:rPr lang="en-US" dirty="0" smtClean="0"/>
              <a:t> </a:t>
            </a:r>
            <a:r>
              <a:rPr lang="en-US" dirty="0" err="1" smtClean="0"/>
              <a:t>prethodni</a:t>
            </a:r>
            <a:r>
              <a:rPr lang="en-US" dirty="0" smtClean="0"/>
              <a:t> backup. </a:t>
            </a:r>
            <a:endParaRPr lang="sr-Latn-RS" dirty="0" smtClean="0"/>
          </a:p>
          <a:p>
            <a:r>
              <a:rPr lang="en-US" dirty="0" smtClean="0"/>
              <a:t>RMAN se </a:t>
            </a:r>
            <a:r>
              <a:rPr lang="en-US" dirty="0" err="1" smtClean="0"/>
              <a:t>može</a:t>
            </a:r>
            <a:r>
              <a:rPr lang="en-US" dirty="0" smtClean="0"/>
              <a:t> </a:t>
            </a:r>
            <a:r>
              <a:rPr lang="en-US" dirty="0" err="1" smtClean="0"/>
              <a:t>koristiti</a:t>
            </a:r>
            <a:r>
              <a:rPr lang="en-US" dirty="0" smtClean="0"/>
              <a:t> </a:t>
            </a:r>
            <a:r>
              <a:rPr lang="en-US" dirty="0" err="1" smtClean="0"/>
              <a:t>za</a:t>
            </a:r>
            <a:r>
              <a:rPr lang="en-US" dirty="0" smtClean="0"/>
              <a:t> </a:t>
            </a:r>
            <a:r>
              <a:rPr lang="en-US" dirty="0" err="1" smtClean="0"/>
              <a:t>kreiranje</a:t>
            </a:r>
            <a:r>
              <a:rPr lang="en-US" dirty="0" smtClean="0"/>
              <a:t> incremental backup-ova data file-ova, </a:t>
            </a:r>
            <a:r>
              <a:rPr lang="en-US" dirty="0" err="1" smtClean="0"/>
              <a:t>tablespace</a:t>
            </a:r>
            <a:r>
              <a:rPr lang="en-US" dirty="0" smtClean="0"/>
              <a:t>-ova </a:t>
            </a:r>
            <a:r>
              <a:rPr lang="en-US" dirty="0" err="1" smtClean="0"/>
              <a:t>ili</a:t>
            </a:r>
            <a:r>
              <a:rPr lang="en-US" dirty="0" smtClean="0"/>
              <a:t> </a:t>
            </a:r>
            <a:r>
              <a:rPr lang="en-US" dirty="0" err="1" smtClean="0"/>
              <a:t>cele</a:t>
            </a:r>
            <a:r>
              <a:rPr lang="en-US" dirty="0" smtClean="0"/>
              <a:t> </a:t>
            </a:r>
            <a:r>
              <a:rPr lang="en-US" dirty="0" err="1" smtClean="0"/>
              <a:t>baze</a:t>
            </a:r>
            <a:r>
              <a:rPr lang="en-US" dirty="0" smtClean="0"/>
              <a:t> </a:t>
            </a:r>
            <a:r>
              <a:rPr lang="en-US" dirty="0" err="1" smtClean="0"/>
              <a:t>podataka</a:t>
            </a:r>
            <a:r>
              <a:rPr lang="en-US" dirty="0" smtClean="0"/>
              <a:t>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16587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Multilevel Inkremental Backup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RMAN </a:t>
            </a:r>
            <a:r>
              <a:rPr lang="en-US" dirty="0" err="1"/>
              <a:t>može</a:t>
            </a:r>
            <a:r>
              <a:rPr lang="en-US" dirty="0"/>
              <a:t> da </a:t>
            </a:r>
            <a:r>
              <a:rPr lang="en-US" dirty="0" err="1"/>
              <a:t>kreira</a:t>
            </a:r>
            <a:r>
              <a:rPr lang="en-US" dirty="0"/>
              <a:t> multilevel incremental backup-</a:t>
            </a:r>
            <a:r>
              <a:rPr lang="en-US" dirty="0" err="1"/>
              <a:t>ove</a:t>
            </a:r>
            <a:r>
              <a:rPr lang="en-US" dirty="0"/>
              <a:t>. </a:t>
            </a:r>
            <a:r>
              <a:rPr lang="en-US" dirty="0" err="1"/>
              <a:t>Svaki</a:t>
            </a:r>
            <a:r>
              <a:rPr lang="en-US" dirty="0"/>
              <a:t> </a:t>
            </a:r>
            <a:r>
              <a:rPr lang="en-US" dirty="0" err="1"/>
              <a:t>inkrementalni</a:t>
            </a:r>
            <a:r>
              <a:rPr lang="en-US" dirty="0"/>
              <a:t> level je </a:t>
            </a:r>
            <a:r>
              <a:rPr lang="en-US" dirty="0" err="1"/>
              <a:t>označen</a:t>
            </a:r>
            <a:r>
              <a:rPr lang="en-US" dirty="0"/>
              <a:t> </a:t>
            </a:r>
            <a:r>
              <a:rPr lang="en-US" dirty="0" err="1"/>
              <a:t>vrednostima</a:t>
            </a:r>
            <a:r>
              <a:rPr lang="en-US" dirty="0"/>
              <a:t> 0 </a:t>
            </a:r>
            <a:r>
              <a:rPr lang="en-US" dirty="0" err="1"/>
              <a:t>ili</a:t>
            </a:r>
            <a:r>
              <a:rPr lang="en-US" dirty="0"/>
              <a:t> 1</a:t>
            </a:r>
            <a:r>
              <a:rPr lang="en-US" dirty="0" smtClean="0"/>
              <a:t>.</a:t>
            </a:r>
            <a:endParaRPr lang="sr-Latn-RS" dirty="0" smtClean="0"/>
          </a:p>
          <a:p>
            <a:r>
              <a:rPr lang="en-US" dirty="0"/>
              <a:t>Level 0 incremental backup, </a:t>
            </a:r>
            <a:r>
              <a:rPr lang="en-US" dirty="0" err="1"/>
              <a:t>koji</a:t>
            </a:r>
            <a:r>
              <a:rPr lang="en-US" dirty="0"/>
              <a:t> je </a:t>
            </a:r>
            <a:r>
              <a:rPr lang="en-US" dirty="0" err="1"/>
              <a:t>osnova</a:t>
            </a:r>
            <a:r>
              <a:rPr lang="en-US" dirty="0"/>
              <a:t> </a:t>
            </a:r>
            <a:r>
              <a:rPr lang="en-US" dirty="0" err="1"/>
              <a:t>za</a:t>
            </a:r>
            <a:r>
              <a:rPr lang="en-US" dirty="0"/>
              <a:t> </a:t>
            </a:r>
            <a:r>
              <a:rPr lang="en-US" dirty="0" err="1"/>
              <a:t>naknadne</a:t>
            </a:r>
            <a:r>
              <a:rPr lang="en-US" dirty="0"/>
              <a:t> </a:t>
            </a:r>
            <a:r>
              <a:rPr lang="en-US" dirty="0" err="1"/>
              <a:t>incrementalne</a:t>
            </a:r>
            <a:r>
              <a:rPr lang="en-US" dirty="0"/>
              <a:t> backup-</a:t>
            </a:r>
            <a:r>
              <a:rPr lang="en-US" dirty="0" err="1"/>
              <a:t>ove</a:t>
            </a:r>
            <a:r>
              <a:rPr lang="en-US" dirty="0"/>
              <a:t>, </a:t>
            </a:r>
            <a:r>
              <a:rPr lang="en-US" dirty="0" err="1"/>
              <a:t>kopira</a:t>
            </a:r>
            <a:r>
              <a:rPr lang="en-US" dirty="0"/>
              <a:t> </a:t>
            </a:r>
            <a:r>
              <a:rPr lang="en-US" dirty="0" err="1"/>
              <a:t>sve</a:t>
            </a:r>
            <a:r>
              <a:rPr lang="en-US" dirty="0"/>
              <a:t> </a:t>
            </a:r>
            <a:r>
              <a:rPr lang="en-US" dirty="0" err="1"/>
              <a:t>blokove</a:t>
            </a:r>
            <a:r>
              <a:rPr lang="en-US" dirty="0"/>
              <a:t> </a:t>
            </a:r>
            <a:r>
              <a:rPr lang="en-US" dirty="0" err="1"/>
              <a:t>koji</a:t>
            </a:r>
            <a:r>
              <a:rPr lang="en-US" dirty="0"/>
              <a:t> </a:t>
            </a:r>
            <a:r>
              <a:rPr lang="en-US" dirty="0" err="1"/>
              <a:t>sadrže</a:t>
            </a:r>
            <a:r>
              <a:rPr lang="en-US" dirty="0"/>
              <a:t> </a:t>
            </a:r>
            <a:r>
              <a:rPr lang="en-US" dirty="0" err="1"/>
              <a:t>podatke</a:t>
            </a:r>
            <a:r>
              <a:rPr lang="en-US" dirty="0"/>
              <a:t>. </a:t>
            </a:r>
            <a:endParaRPr lang="sr-Latn-RS" dirty="0" smtClean="0"/>
          </a:p>
          <a:p>
            <a:r>
              <a:rPr lang="en-US" dirty="0"/>
              <a:t>Level 1 </a:t>
            </a:r>
            <a:r>
              <a:rPr lang="en-US" dirty="0" smtClean="0"/>
              <a:t>incremental</a:t>
            </a:r>
            <a:r>
              <a:rPr lang="sr-Latn-RS" dirty="0" smtClean="0"/>
              <a:t>ni</a:t>
            </a:r>
            <a:r>
              <a:rPr lang="en-US" dirty="0" smtClean="0"/>
              <a:t> </a:t>
            </a:r>
            <a:r>
              <a:rPr lang="en-US" dirty="0"/>
              <a:t>backup </a:t>
            </a:r>
            <a:r>
              <a:rPr lang="en-US" dirty="0" err="1"/>
              <a:t>može</a:t>
            </a:r>
            <a:r>
              <a:rPr lang="en-US" dirty="0"/>
              <a:t> </a:t>
            </a:r>
            <a:r>
              <a:rPr lang="en-US" dirty="0" err="1"/>
              <a:t>biti</a:t>
            </a:r>
            <a:r>
              <a:rPr lang="en-US" dirty="0"/>
              <a:t>:</a:t>
            </a:r>
          </a:p>
          <a:p>
            <a:pPr lvl="1"/>
            <a:r>
              <a:rPr lang="en-US" b="1" dirty="0"/>
              <a:t>Differential incremental backup</a:t>
            </a:r>
            <a:r>
              <a:rPr lang="en-US" dirty="0"/>
              <a:t>, </a:t>
            </a:r>
            <a:r>
              <a:rPr lang="en-US" dirty="0" err="1"/>
              <a:t>koji</a:t>
            </a:r>
            <a:r>
              <a:rPr lang="en-US" dirty="0"/>
              <a:t> backup-</a:t>
            </a:r>
            <a:r>
              <a:rPr lang="en-US" dirty="0" err="1"/>
              <a:t>uje</a:t>
            </a:r>
            <a:r>
              <a:rPr lang="en-US" dirty="0"/>
              <a:t> </a:t>
            </a:r>
            <a:r>
              <a:rPr lang="en-US" dirty="0" err="1"/>
              <a:t>sve</a:t>
            </a:r>
            <a:r>
              <a:rPr lang="en-US" dirty="0"/>
              <a:t> </a:t>
            </a:r>
            <a:r>
              <a:rPr lang="en-US" dirty="0" err="1"/>
              <a:t>blokove</a:t>
            </a:r>
            <a:r>
              <a:rPr lang="en-US" dirty="0"/>
              <a:t> </a:t>
            </a:r>
            <a:r>
              <a:rPr lang="en-US" dirty="0" err="1"/>
              <a:t>promenjene</a:t>
            </a:r>
            <a:r>
              <a:rPr lang="en-US" dirty="0"/>
              <a:t> </a:t>
            </a:r>
            <a:r>
              <a:rPr lang="en-US" dirty="0" err="1"/>
              <a:t>nakon</a:t>
            </a:r>
            <a:r>
              <a:rPr lang="en-US" dirty="0"/>
              <a:t> </a:t>
            </a:r>
            <a:r>
              <a:rPr lang="en-US" dirty="0" err="1"/>
              <a:t>najnovijeg</a:t>
            </a:r>
            <a:r>
              <a:rPr lang="en-US" dirty="0"/>
              <a:t> </a:t>
            </a:r>
            <a:r>
              <a:rPr lang="en-US" dirty="0" err="1" smtClean="0"/>
              <a:t>i</a:t>
            </a:r>
            <a:r>
              <a:rPr lang="sr-Latn-RS" dirty="0" smtClean="0"/>
              <a:t>nkrementalnog</a:t>
            </a:r>
            <a:r>
              <a:rPr lang="en-US" dirty="0" smtClean="0"/>
              <a:t> backup</a:t>
            </a:r>
            <a:r>
              <a:rPr lang="sr-Latn-RS" dirty="0" smtClean="0"/>
              <a:t>-</a:t>
            </a:r>
            <a:r>
              <a:rPr lang="en-US" dirty="0" smtClean="0"/>
              <a:t>a </a:t>
            </a:r>
            <a:r>
              <a:rPr lang="en-US" dirty="0" err="1"/>
              <a:t>levela</a:t>
            </a:r>
            <a:r>
              <a:rPr lang="en-US" dirty="0"/>
              <a:t> 1 </a:t>
            </a:r>
            <a:r>
              <a:rPr lang="en-US" dirty="0" err="1"/>
              <a:t>ili</a:t>
            </a:r>
            <a:r>
              <a:rPr lang="en-US" dirty="0"/>
              <a:t> 0</a:t>
            </a:r>
          </a:p>
          <a:p>
            <a:pPr lvl="1"/>
            <a:r>
              <a:rPr lang="en-US" b="1" dirty="0"/>
              <a:t>Cumulative incremental backup</a:t>
            </a:r>
            <a:r>
              <a:rPr lang="en-US" dirty="0"/>
              <a:t>, </a:t>
            </a:r>
            <a:r>
              <a:rPr lang="en-US" dirty="0" err="1"/>
              <a:t>koji</a:t>
            </a:r>
            <a:r>
              <a:rPr lang="en-US" dirty="0"/>
              <a:t> backup-</a:t>
            </a:r>
            <a:r>
              <a:rPr lang="en-US" dirty="0" err="1"/>
              <a:t>uje</a:t>
            </a:r>
            <a:r>
              <a:rPr lang="en-US" dirty="0"/>
              <a:t> </a:t>
            </a:r>
            <a:r>
              <a:rPr lang="en-US" dirty="0" err="1"/>
              <a:t>sve</a:t>
            </a:r>
            <a:r>
              <a:rPr lang="en-US" dirty="0"/>
              <a:t> </a:t>
            </a:r>
            <a:r>
              <a:rPr lang="en-US" dirty="0" err="1"/>
              <a:t>blokove</a:t>
            </a:r>
            <a:r>
              <a:rPr lang="en-US" dirty="0"/>
              <a:t> </a:t>
            </a:r>
            <a:r>
              <a:rPr lang="en-US" dirty="0" err="1"/>
              <a:t>promenjene</a:t>
            </a:r>
            <a:r>
              <a:rPr lang="en-US" dirty="0"/>
              <a:t> </a:t>
            </a:r>
            <a:r>
              <a:rPr lang="en-US" dirty="0" err="1"/>
              <a:t>nakon</a:t>
            </a:r>
            <a:r>
              <a:rPr lang="en-US" dirty="0"/>
              <a:t> </a:t>
            </a:r>
            <a:r>
              <a:rPr lang="en-US" dirty="0" err="1"/>
              <a:t>najnovijeg</a:t>
            </a:r>
            <a:r>
              <a:rPr lang="en-US" dirty="0"/>
              <a:t> </a:t>
            </a:r>
            <a:r>
              <a:rPr lang="sr-Latn-RS" dirty="0" smtClean="0"/>
              <a:t>inkrementalnog</a:t>
            </a:r>
            <a:r>
              <a:rPr lang="en-US" dirty="0" smtClean="0"/>
              <a:t> backup</a:t>
            </a:r>
            <a:r>
              <a:rPr lang="sr-Latn-RS" dirty="0" smtClean="0"/>
              <a:t>-</a:t>
            </a:r>
            <a:r>
              <a:rPr lang="en-US" dirty="0" smtClean="0"/>
              <a:t>a </a:t>
            </a:r>
            <a:r>
              <a:rPr lang="en-US" dirty="0" err="1"/>
              <a:t>levela</a:t>
            </a:r>
            <a:r>
              <a:rPr lang="en-US" dirty="0"/>
              <a:t> 0.</a:t>
            </a:r>
          </a:p>
        </p:txBody>
      </p:sp>
    </p:spTree>
    <p:extLst>
      <p:ext uri="{BB962C8B-B14F-4D97-AF65-F5344CB8AC3E}">
        <p14:creationId xmlns:p14="http://schemas.microsoft.com/office/powerpoint/2010/main" val="19143448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Differential Inkrementalni Backup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 differential level 1 backup-u, RMAN backup-</a:t>
            </a:r>
            <a:r>
              <a:rPr lang="en-US" dirty="0" err="1"/>
              <a:t>uje</a:t>
            </a:r>
            <a:r>
              <a:rPr lang="en-US" dirty="0"/>
              <a:t> </a:t>
            </a:r>
            <a:r>
              <a:rPr lang="en-US" dirty="0" err="1"/>
              <a:t>sve</a:t>
            </a:r>
            <a:r>
              <a:rPr lang="en-US" dirty="0"/>
              <a:t> </a:t>
            </a:r>
            <a:r>
              <a:rPr lang="en-US" dirty="0" err="1"/>
              <a:t>blokove</a:t>
            </a:r>
            <a:r>
              <a:rPr lang="en-US" dirty="0"/>
              <a:t> </a:t>
            </a:r>
            <a:r>
              <a:rPr lang="en-US" dirty="0" err="1"/>
              <a:t>koji</a:t>
            </a:r>
            <a:r>
              <a:rPr lang="en-US" dirty="0"/>
              <a:t> </a:t>
            </a:r>
            <a:r>
              <a:rPr lang="en-US" dirty="0" err="1"/>
              <a:t>su</a:t>
            </a:r>
            <a:r>
              <a:rPr lang="en-US" dirty="0"/>
              <a:t> se </a:t>
            </a:r>
            <a:r>
              <a:rPr lang="en-US" dirty="0" err="1"/>
              <a:t>promenili</a:t>
            </a:r>
            <a:r>
              <a:rPr lang="en-US" dirty="0"/>
              <a:t> od </a:t>
            </a:r>
            <a:r>
              <a:rPr lang="en-US" dirty="0" err="1"/>
              <a:t>najnovijeg</a:t>
            </a:r>
            <a:r>
              <a:rPr lang="en-US" dirty="0"/>
              <a:t> incremental-</a:t>
            </a:r>
            <a:r>
              <a:rPr lang="en-US" dirty="0" err="1"/>
              <a:t>nog</a:t>
            </a:r>
            <a:r>
              <a:rPr lang="en-US" dirty="0"/>
              <a:t> </a:t>
            </a:r>
            <a:r>
              <a:rPr lang="en-US" dirty="0" err="1"/>
              <a:t>backupa</a:t>
            </a:r>
            <a:r>
              <a:rPr lang="en-US" dirty="0"/>
              <a:t> </a:t>
            </a:r>
            <a:r>
              <a:rPr lang="en-US" dirty="0" err="1"/>
              <a:t>levela</a:t>
            </a:r>
            <a:r>
              <a:rPr lang="en-US" dirty="0"/>
              <a:t> 1 (cumulative </a:t>
            </a:r>
            <a:r>
              <a:rPr lang="en-US" dirty="0" err="1"/>
              <a:t>ili</a:t>
            </a:r>
            <a:r>
              <a:rPr lang="en-US" dirty="0"/>
              <a:t> differential) </a:t>
            </a:r>
            <a:r>
              <a:rPr lang="en-US" dirty="0" err="1"/>
              <a:t>ili</a:t>
            </a:r>
            <a:r>
              <a:rPr lang="en-US" dirty="0"/>
              <a:t> </a:t>
            </a:r>
            <a:r>
              <a:rPr lang="en-US" dirty="0" err="1"/>
              <a:t>levela</a:t>
            </a:r>
            <a:r>
              <a:rPr lang="en-US" dirty="0"/>
              <a:t> 0.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7682" y="3092011"/>
            <a:ext cx="6511092" cy="3438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51077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Cumulative Inkrementalni Backup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 cumulative level 1 backup-u, RMAN backup-</a:t>
            </a:r>
            <a:r>
              <a:rPr lang="en-US" dirty="0" err="1"/>
              <a:t>uje</a:t>
            </a:r>
            <a:r>
              <a:rPr lang="en-US" dirty="0"/>
              <a:t> </a:t>
            </a:r>
            <a:r>
              <a:rPr lang="en-US" dirty="0" err="1"/>
              <a:t>sve</a:t>
            </a:r>
            <a:r>
              <a:rPr lang="en-US" dirty="0"/>
              <a:t> </a:t>
            </a:r>
            <a:r>
              <a:rPr lang="en-US" dirty="0" err="1"/>
              <a:t>blokove</a:t>
            </a:r>
            <a:r>
              <a:rPr lang="en-US" dirty="0"/>
              <a:t> </a:t>
            </a:r>
            <a:r>
              <a:rPr lang="en-US" dirty="0" err="1"/>
              <a:t>korišćenje</a:t>
            </a:r>
            <a:r>
              <a:rPr lang="en-US" dirty="0"/>
              <a:t> od </a:t>
            </a:r>
            <a:r>
              <a:rPr lang="en-US" dirty="0" err="1"/>
              <a:t>najskorijeg</a:t>
            </a:r>
            <a:r>
              <a:rPr lang="en-US" dirty="0"/>
              <a:t> level 0 </a:t>
            </a:r>
            <a:r>
              <a:rPr lang="en-US" dirty="0" err="1" smtClean="0"/>
              <a:t>i</a:t>
            </a:r>
            <a:r>
              <a:rPr lang="sr-Latn-RS" dirty="0" smtClean="0"/>
              <a:t>nkrementalnog backup-a</a:t>
            </a:r>
            <a:endParaRPr lang="en-US" dirty="0"/>
          </a:p>
        </p:txBody>
      </p:sp>
      <p:pic>
        <p:nvPicPr>
          <p:cNvPr id="4" name="Picture 3" descr="cumulative incremental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7595" y="2729547"/>
            <a:ext cx="6466205" cy="345059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448330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0998" y="-9727"/>
            <a:ext cx="9692640" cy="1325562"/>
          </a:xfrm>
        </p:spPr>
        <p:txBody>
          <a:bodyPr/>
          <a:lstStyle/>
          <a:p>
            <a:r>
              <a:rPr lang="sr-Latn-RS" dirty="0" smtClean="0"/>
              <a:t>Backup i restore baze podataka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475" y="2730351"/>
            <a:ext cx="5293954" cy="2809211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7276" y="1828800"/>
            <a:ext cx="5319256" cy="424752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46475" y="1766610"/>
            <a:ext cx="36363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RS" dirty="0" smtClean="0"/>
              <a:t>Backup baze koja nije u ARCHIVELOG modu: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2343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12112" y="425302"/>
            <a:ext cx="8645120" cy="5754835"/>
          </a:xfrm>
        </p:spPr>
        <p:txBody>
          <a:bodyPr>
            <a:normAutofit fontScale="92500"/>
          </a:bodyPr>
          <a:lstStyle/>
          <a:p>
            <a:r>
              <a:rPr lang="sr-Latn-RS" dirty="0" smtClean="0"/>
              <a:t>Uradićemo backup nad bazom podataka koja sadrži samo jednu tabelu STAVKE:</a:t>
            </a:r>
          </a:p>
          <a:p>
            <a:endParaRPr lang="sr-Latn-RS" dirty="0"/>
          </a:p>
          <a:p>
            <a:endParaRPr lang="sr-Latn-RS" dirty="0" smtClean="0"/>
          </a:p>
          <a:p>
            <a:endParaRPr lang="sr-Latn-RS" dirty="0"/>
          </a:p>
          <a:p>
            <a:r>
              <a:rPr lang="en-US" dirty="0" err="1"/>
              <a:t>Za</a:t>
            </a:r>
            <a:r>
              <a:rPr lang="en-US" dirty="0"/>
              <a:t> </a:t>
            </a:r>
            <a:r>
              <a:rPr lang="en-US" dirty="0" err="1"/>
              <a:t>potrebe</a:t>
            </a:r>
            <a:r>
              <a:rPr lang="en-US" dirty="0"/>
              <a:t> backup-a </a:t>
            </a:r>
            <a:r>
              <a:rPr lang="en-US" dirty="0" err="1"/>
              <a:t>napisane</a:t>
            </a:r>
            <a:r>
              <a:rPr lang="en-US" dirty="0"/>
              <a:t> </a:t>
            </a:r>
            <a:r>
              <a:rPr lang="en-US" dirty="0" err="1"/>
              <a:t>su</a:t>
            </a:r>
            <a:r>
              <a:rPr lang="en-US" dirty="0"/>
              <a:t> </a:t>
            </a:r>
            <a:r>
              <a:rPr lang="en-US" dirty="0" err="1"/>
              <a:t>dve</a:t>
            </a:r>
            <a:r>
              <a:rPr lang="en-US" dirty="0"/>
              <a:t> </a:t>
            </a:r>
            <a:r>
              <a:rPr lang="en-US" dirty="0" err="1"/>
              <a:t>skripte</a:t>
            </a:r>
            <a:r>
              <a:rPr lang="en-US" dirty="0"/>
              <a:t>, </a:t>
            </a:r>
            <a:r>
              <a:rPr lang="en-US" dirty="0" err="1"/>
              <a:t>jedna</a:t>
            </a:r>
            <a:r>
              <a:rPr lang="en-US" dirty="0"/>
              <a:t> je Windows batch file, </a:t>
            </a:r>
            <a:r>
              <a:rPr lang="en-US" dirty="0" err="1"/>
              <a:t>skripta</a:t>
            </a:r>
            <a:r>
              <a:rPr lang="en-US" dirty="0"/>
              <a:t> </a:t>
            </a:r>
            <a:r>
              <a:rPr lang="en-US" dirty="0" err="1"/>
              <a:t>sadrži</a:t>
            </a:r>
            <a:r>
              <a:rPr lang="en-US" dirty="0"/>
              <a:t> </a:t>
            </a:r>
            <a:r>
              <a:rPr lang="en-US" dirty="0" err="1"/>
              <a:t>samo</a:t>
            </a:r>
            <a:r>
              <a:rPr lang="en-US" dirty="0"/>
              <a:t> </a:t>
            </a:r>
            <a:r>
              <a:rPr lang="en-US" dirty="0" err="1"/>
              <a:t>jednu</a:t>
            </a:r>
            <a:r>
              <a:rPr lang="en-US" dirty="0"/>
              <a:t> </a:t>
            </a:r>
            <a:r>
              <a:rPr lang="en-US" dirty="0" err="1"/>
              <a:t>komandnu</a:t>
            </a:r>
            <a:r>
              <a:rPr lang="en-US" dirty="0"/>
              <a:t> </a:t>
            </a:r>
            <a:r>
              <a:rPr lang="en-US" dirty="0" err="1"/>
              <a:t>liniju</a:t>
            </a:r>
            <a:r>
              <a:rPr lang="en-US" dirty="0"/>
              <a:t> </a:t>
            </a:r>
            <a:r>
              <a:rPr lang="en-US" dirty="0" err="1"/>
              <a:t>koja</a:t>
            </a:r>
            <a:r>
              <a:rPr lang="en-US" dirty="0"/>
              <a:t> </a:t>
            </a:r>
            <a:r>
              <a:rPr lang="en-US" dirty="0" err="1"/>
              <a:t>poziva</a:t>
            </a:r>
            <a:r>
              <a:rPr lang="en-US" dirty="0"/>
              <a:t> RMAN:</a:t>
            </a:r>
          </a:p>
          <a:p>
            <a:pPr marL="274320" lvl="1" indent="0">
              <a:buNone/>
            </a:pPr>
            <a:endParaRPr lang="sr-Latn-RS" b="1" dirty="0" smtClean="0"/>
          </a:p>
          <a:p>
            <a:pPr marL="274320" lvl="1" indent="0">
              <a:buNone/>
            </a:pPr>
            <a:r>
              <a:rPr lang="sr-Latn-RS" b="1" dirty="0"/>
              <a:t>	</a:t>
            </a:r>
            <a:r>
              <a:rPr lang="sr-Latn-RS" b="1" dirty="0" smtClean="0"/>
              <a:t>	</a:t>
            </a:r>
            <a:r>
              <a:rPr lang="en-US" b="1" dirty="0" err="1" smtClean="0"/>
              <a:t>rman</a:t>
            </a:r>
            <a:r>
              <a:rPr lang="en-US" b="1" dirty="0" smtClean="0"/>
              <a:t> </a:t>
            </a:r>
            <a:r>
              <a:rPr lang="en-US" b="1" dirty="0"/>
              <a:t>target/ @e:\</a:t>
            </a:r>
            <a:r>
              <a:rPr lang="en-US" b="1" dirty="0" err="1"/>
              <a:t>rman_backup.rmn</a:t>
            </a:r>
            <a:endParaRPr lang="en-US" dirty="0"/>
          </a:p>
          <a:p>
            <a:r>
              <a:rPr lang="en-US" dirty="0" err="1"/>
              <a:t>Druga</a:t>
            </a:r>
            <a:r>
              <a:rPr lang="en-US" dirty="0"/>
              <a:t> </a:t>
            </a:r>
            <a:r>
              <a:rPr lang="en-US" dirty="0" err="1"/>
              <a:t>skripta</a:t>
            </a:r>
            <a:r>
              <a:rPr lang="en-US" dirty="0"/>
              <a:t> </a:t>
            </a:r>
            <a:r>
              <a:rPr lang="en-US" dirty="0" err="1"/>
              <a:t>rman_backup.rmn</a:t>
            </a:r>
            <a:r>
              <a:rPr lang="en-US" dirty="0"/>
              <a:t> </a:t>
            </a:r>
            <a:r>
              <a:rPr lang="en-US" dirty="0" err="1"/>
              <a:t>sadrži</a:t>
            </a:r>
            <a:r>
              <a:rPr lang="en-US" dirty="0"/>
              <a:t> </a:t>
            </a:r>
            <a:r>
              <a:rPr lang="en-US" dirty="0" err="1"/>
              <a:t>komande</a:t>
            </a:r>
            <a:r>
              <a:rPr lang="en-US" dirty="0"/>
              <a:t> </a:t>
            </a:r>
            <a:r>
              <a:rPr lang="en-US" dirty="0" err="1"/>
              <a:t>koje</a:t>
            </a:r>
            <a:r>
              <a:rPr lang="en-US" dirty="0"/>
              <a:t> </a:t>
            </a:r>
            <a:r>
              <a:rPr lang="en-US" dirty="0" err="1"/>
              <a:t>će</a:t>
            </a:r>
            <a:r>
              <a:rPr lang="en-US" dirty="0"/>
              <a:t> </a:t>
            </a:r>
            <a:r>
              <a:rPr lang="en-US" dirty="0" err="1"/>
              <a:t>izvršiti</a:t>
            </a:r>
            <a:r>
              <a:rPr lang="en-US" dirty="0"/>
              <a:t> RMAN:</a:t>
            </a:r>
          </a:p>
          <a:p>
            <a:pPr marL="0" indent="0">
              <a:buNone/>
            </a:pPr>
            <a:r>
              <a:rPr lang="sr-Latn-RS" b="1" dirty="0" smtClean="0"/>
              <a:t>		</a:t>
            </a:r>
            <a:r>
              <a:rPr lang="en-US" b="1" dirty="0" smtClean="0"/>
              <a:t>run</a:t>
            </a:r>
            <a:r>
              <a:rPr lang="en-US" b="1" dirty="0"/>
              <a:t>{</a:t>
            </a:r>
            <a:endParaRPr lang="en-US" dirty="0"/>
          </a:p>
          <a:p>
            <a:pPr marL="0" indent="0">
              <a:buNone/>
            </a:pPr>
            <a:r>
              <a:rPr lang="sr-Latn-RS" b="1" dirty="0" smtClean="0"/>
              <a:t>			</a:t>
            </a:r>
            <a:r>
              <a:rPr lang="en-US" b="1" dirty="0" smtClean="0"/>
              <a:t>shutdown </a:t>
            </a:r>
            <a:r>
              <a:rPr lang="en-US" b="1" dirty="0"/>
              <a:t>immediate ;</a:t>
            </a:r>
            <a:endParaRPr lang="en-US" dirty="0"/>
          </a:p>
          <a:p>
            <a:pPr marL="0" indent="0">
              <a:buNone/>
            </a:pPr>
            <a:r>
              <a:rPr lang="sr-Latn-RS" b="1" dirty="0" smtClean="0"/>
              <a:t>			</a:t>
            </a:r>
            <a:r>
              <a:rPr lang="en-US" b="1" dirty="0" smtClean="0"/>
              <a:t>startup </a:t>
            </a:r>
            <a:r>
              <a:rPr lang="en-US" b="1" dirty="0"/>
              <a:t>mount ;</a:t>
            </a:r>
            <a:endParaRPr lang="en-US" dirty="0"/>
          </a:p>
          <a:p>
            <a:pPr marL="0" indent="0">
              <a:buNone/>
            </a:pPr>
            <a:r>
              <a:rPr lang="sr-Latn-RS" b="1" dirty="0" smtClean="0"/>
              <a:t>			</a:t>
            </a:r>
            <a:r>
              <a:rPr lang="en-US" b="1" dirty="0" smtClean="0"/>
              <a:t>backup </a:t>
            </a:r>
            <a:r>
              <a:rPr lang="en-US" b="1" dirty="0"/>
              <a:t>as </a:t>
            </a:r>
            <a:r>
              <a:rPr lang="en-US" b="1" dirty="0" err="1"/>
              <a:t>backupset</a:t>
            </a:r>
            <a:r>
              <a:rPr lang="en-US" b="1" dirty="0"/>
              <a:t> device type disk database ;</a:t>
            </a:r>
            <a:endParaRPr lang="en-US" dirty="0"/>
          </a:p>
          <a:p>
            <a:pPr marL="0" indent="0">
              <a:buNone/>
            </a:pPr>
            <a:r>
              <a:rPr lang="sr-Latn-RS" b="1" dirty="0" smtClean="0"/>
              <a:t>		       </a:t>
            </a:r>
            <a:r>
              <a:rPr lang="en-US" b="1" dirty="0" smtClean="0"/>
              <a:t>}</a:t>
            </a:r>
            <a:endParaRPr lang="en-US" dirty="0"/>
          </a:p>
          <a:p>
            <a:endParaRPr lang="sr-Latn-RS" dirty="0" smtClean="0"/>
          </a:p>
          <a:p>
            <a:endParaRPr lang="sr-Latn-RS" dirty="0" smtClean="0"/>
          </a:p>
          <a:p>
            <a:endParaRPr lang="sr-Latn-RS" dirty="0"/>
          </a:p>
          <a:p>
            <a:endParaRPr lang="sr-Latn-RS" dirty="0" smtClean="0"/>
          </a:p>
          <a:p>
            <a:endParaRPr lang="sr-Latn-RS" dirty="0"/>
          </a:p>
          <a:p>
            <a:endParaRPr lang="sr-Latn-RS" dirty="0" smtClean="0"/>
          </a:p>
          <a:p>
            <a:endParaRPr lang="sr-Latn-RS" dirty="0"/>
          </a:p>
          <a:p>
            <a:endParaRPr lang="sr-Latn-RS" dirty="0" smtClean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/>
          <a:srcRect l="625" t="320" r="2076" b="63330"/>
          <a:stretch/>
        </p:blipFill>
        <p:spPr>
          <a:xfrm>
            <a:off x="4408541" y="742433"/>
            <a:ext cx="1981626" cy="1440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6420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42" y="776176"/>
            <a:ext cx="5335109" cy="564448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42527" y="776177"/>
            <a:ext cx="5539561" cy="564448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929674" y="153440"/>
            <a:ext cx="45826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RS" dirty="0" smtClean="0"/>
              <a:t>Izvršavanje backup-a: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78514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61872" y="365760"/>
            <a:ext cx="8595360" cy="5814377"/>
          </a:xfrm>
        </p:spPr>
        <p:txBody>
          <a:bodyPr/>
          <a:lstStyle/>
          <a:p>
            <a:r>
              <a:rPr lang="sr-Latn-RS" dirty="0" smtClean="0"/>
              <a:t>Nakon završenog backup-a se može struktura koja je kreirana na lokaciji predviđenoj za backup: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8897" y="1043634"/>
            <a:ext cx="5096398" cy="193201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900655" y="2733291"/>
            <a:ext cx="26900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RS" dirty="0" smtClean="0"/>
              <a:t>Struktura na lokacijia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8897" y="3549180"/>
            <a:ext cx="4700423" cy="91447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299375" y="4278993"/>
            <a:ext cx="18925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RS" dirty="0" smtClean="0"/>
              <a:t>Backup set</a:t>
            </a: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55240" y="5076665"/>
            <a:ext cx="4980864" cy="110347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232173" y="6117308"/>
            <a:ext cx="20269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RS" dirty="0" smtClean="0"/>
              <a:t>Autobackup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71968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61872" y="365760"/>
            <a:ext cx="8595360" cy="5814377"/>
          </a:xfrm>
        </p:spPr>
        <p:txBody>
          <a:bodyPr/>
          <a:lstStyle/>
          <a:p>
            <a:r>
              <a:rPr lang="sr-Latn-RS" dirty="0" smtClean="0"/>
              <a:t>Za potrebe testiranja postupka restore, u korisničku šemu smo dodali još jednu tabelu PROBA:</a:t>
            </a:r>
          </a:p>
          <a:p>
            <a:endParaRPr lang="sr-Latn-RS" dirty="0"/>
          </a:p>
          <a:p>
            <a:endParaRPr lang="sr-Latn-RS" dirty="0" smtClean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9194" y="811367"/>
            <a:ext cx="2264781" cy="101249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1438" y="2895291"/>
            <a:ext cx="4153480" cy="30579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61872" y="2108640"/>
            <a:ext cx="31578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RS" dirty="0" smtClean="0"/>
              <a:t>Restore baze podataka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7495954" y="1956391"/>
            <a:ext cx="272193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Nakon</a:t>
            </a:r>
            <a:r>
              <a:rPr lang="en-US" dirty="0"/>
              <a:t> </a:t>
            </a:r>
            <a:r>
              <a:rPr lang="en-US" dirty="0" err="1"/>
              <a:t>ovog</a:t>
            </a:r>
            <a:r>
              <a:rPr lang="en-US" dirty="0"/>
              <a:t> </a:t>
            </a:r>
            <a:r>
              <a:rPr lang="en-US" dirty="0" err="1"/>
              <a:t>postupka</a:t>
            </a:r>
            <a:r>
              <a:rPr lang="en-US" dirty="0"/>
              <a:t> </a:t>
            </a:r>
            <a:r>
              <a:rPr lang="en-US" dirty="0" err="1"/>
              <a:t>baza</a:t>
            </a:r>
            <a:r>
              <a:rPr lang="en-US" dirty="0"/>
              <a:t> </a:t>
            </a:r>
            <a:r>
              <a:rPr lang="en-US" dirty="0" err="1"/>
              <a:t>podataka</a:t>
            </a:r>
            <a:r>
              <a:rPr lang="en-US" dirty="0"/>
              <a:t> je </a:t>
            </a:r>
            <a:r>
              <a:rPr lang="en-US" dirty="0" err="1"/>
              <a:t>vraćena</a:t>
            </a:r>
            <a:r>
              <a:rPr lang="en-US" dirty="0"/>
              <a:t> u </a:t>
            </a:r>
            <a:r>
              <a:rPr lang="en-US" dirty="0" err="1"/>
              <a:t>prvobitno</a:t>
            </a:r>
            <a:r>
              <a:rPr lang="en-US" dirty="0"/>
              <a:t> </a:t>
            </a:r>
            <a:r>
              <a:rPr lang="en-US" dirty="0" err="1"/>
              <a:t>stanje</a:t>
            </a:r>
            <a:r>
              <a:rPr lang="en-US" dirty="0"/>
              <a:t>, </a:t>
            </a:r>
            <a:r>
              <a:rPr lang="en-US" dirty="0" err="1" smtClean="0"/>
              <a:t>kori</a:t>
            </a:r>
            <a:r>
              <a:rPr lang="sr-Latn-RS" dirty="0" smtClean="0"/>
              <a:t>s</a:t>
            </a:r>
            <a:r>
              <a:rPr lang="en-US" dirty="0" err="1" smtClean="0"/>
              <a:t>nička</a:t>
            </a:r>
            <a:r>
              <a:rPr lang="en-US" dirty="0" smtClean="0"/>
              <a:t> </a:t>
            </a:r>
            <a:r>
              <a:rPr lang="en-US" dirty="0" err="1"/>
              <a:t>šema</a:t>
            </a:r>
            <a:r>
              <a:rPr lang="en-US" dirty="0"/>
              <a:t> </a:t>
            </a:r>
            <a:r>
              <a:rPr lang="en-US" dirty="0" err="1"/>
              <a:t>ima</a:t>
            </a:r>
            <a:r>
              <a:rPr lang="en-US" dirty="0"/>
              <a:t> </a:t>
            </a:r>
            <a:r>
              <a:rPr lang="en-US" dirty="0" err="1"/>
              <a:t>samo</a:t>
            </a:r>
            <a:r>
              <a:rPr lang="en-US" dirty="0"/>
              <a:t> </a:t>
            </a:r>
            <a:r>
              <a:rPr lang="en-US" dirty="0" err="1"/>
              <a:t>jednu</a:t>
            </a:r>
            <a:r>
              <a:rPr lang="en-US" dirty="0"/>
              <a:t> </a:t>
            </a:r>
            <a:r>
              <a:rPr lang="en-US" dirty="0" err="1"/>
              <a:t>tabelu</a:t>
            </a:r>
            <a:r>
              <a:rPr lang="en-US" dirty="0"/>
              <a:t>: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5954" y="3698788"/>
            <a:ext cx="2743866" cy="86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46240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129" y="618441"/>
            <a:ext cx="5377423" cy="556169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2080" y="618441"/>
            <a:ext cx="5194798" cy="556169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214033" y="111631"/>
            <a:ext cx="32960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RS" dirty="0" smtClean="0"/>
              <a:t>Restore baze podataka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95734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979" y="216904"/>
            <a:ext cx="9692640" cy="1325562"/>
          </a:xfrm>
        </p:spPr>
        <p:txBody>
          <a:bodyPr/>
          <a:lstStyle/>
          <a:p>
            <a:r>
              <a:rPr lang="sr-Latn-RS" dirty="0" smtClean="0"/>
              <a:t>Backup baze koja je u ARCHIVELOG modu: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433" y="1789661"/>
            <a:ext cx="4648849" cy="3515216"/>
          </a:xfr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2499" y="1542465"/>
            <a:ext cx="4885873" cy="5089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76013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036" y="1028541"/>
            <a:ext cx="4218599" cy="1056988"/>
          </a:xfrm>
        </p:spPr>
      </p:pic>
      <p:sp>
        <p:nvSpPr>
          <p:cNvPr id="7" name="TextBox 6"/>
          <p:cNvSpPr txBox="1"/>
          <p:nvPr/>
        </p:nvSpPr>
        <p:spPr>
          <a:xfrm>
            <a:off x="435934" y="365760"/>
            <a:ext cx="27219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RS" dirty="0" smtClean="0"/>
              <a:t>Backup baze koja je u ARCHIVELOG modu</a:t>
            </a: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24390" y="486305"/>
            <a:ext cx="5052097" cy="521274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09036" y="2966485"/>
            <a:ext cx="445504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RS" dirty="0" smtClean="0"/>
              <a:t>Kada se baza prebaci u ARCHIVELOG mod, automatski arhivira ispunjene redo log fajlova na backup lokaciju:</a:t>
            </a:r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9036" y="4068569"/>
            <a:ext cx="5427899" cy="109640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441245" y="4980312"/>
            <a:ext cx="23545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RS" dirty="0" smtClean="0"/>
              <a:t>ARCHIVELOG fajl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89284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261872" y="647700"/>
            <a:ext cx="8910828" cy="3438525"/>
          </a:xfrm>
        </p:spPr>
        <p:txBody>
          <a:bodyPr/>
          <a:lstStyle/>
          <a:p>
            <a:pPr algn="ctr"/>
            <a:r>
              <a:rPr lang="sr-Latn-RS" dirty="0" smtClean="0"/>
              <a:t>HVALA NA PAŽNJI!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10255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View">
  <a:themeElements>
    <a:clrScheme name="Violet">
      <a:dk1>
        <a:sysClr val="windowText" lastClr="000000"/>
      </a:dk1>
      <a:lt1>
        <a:sysClr val="window" lastClr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TM03457515[[fn=View]]</Template>
  <TotalTime>1949</TotalTime>
  <Words>822</Words>
  <Application>Microsoft Office PowerPoint</Application>
  <PresentationFormat>Widescreen</PresentationFormat>
  <Paragraphs>105</Paragraphs>
  <Slides>21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Calibri</vt:lpstr>
      <vt:lpstr>Century Schoolbook</vt:lpstr>
      <vt:lpstr>Wingdings 2</vt:lpstr>
      <vt:lpstr>View</vt:lpstr>
      <vt:lpstr>Backup/Restore kod Oracle baze podataka</vt:lpstr>
      <vt:lpstr>Sadržaj</vt:lpstr>
      <vt:lpstr>Uvod</vt:lpstr>
      <vt:lpstr>Oracle Backup i recovery rešenja</vt:lpstr>
      <vt:lpstr>RMAN backup koncepti</vt:lpstr>
      <vt:lpstr>Backup setovi</vt:lpstr>
      <vt:lpstr>Image kopija</vt:lpstr>
      <vt:lpstr>Konzistenti i nekonzistentni backup</vt:lpstr>
      <vt:lpstr>Inkrementalni Backup</vt:lpstr>
      <vt:lpstr>Multilevel Inkremental Backup</vt:lpstr>
      <vt:lpstr>Differential Inkrementalni Backup</vt:lpstr>
      <vt:lpstr>Cumulative Inkrementalni Backup</vt:lpstr>
      <vt:lpstr>Backup i restore baze podataka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Backup baze koja je u ARCHIVELOG modu:</vt:lpstr>
      <vt:lpstr>PowerPoint Presentation</vt:lpstr>
      <vt:lpstr>HVALA NA PAŽNJI!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Interna struktura  i organizacija skladišta Oracle baze</dc:title>
  <dc:creator>Windows 10</dc:creator>
  <cp:lastModifiedBy>Windows 10</cp:lastModifiedBy>
  <cp:revision>78</cp:revision>
  <dcterms:created xsi:type="dcterms:W3CDTF">2021-04-19T19:12:24Z</dcterms:created>
  <dcterms:modified xsi:type="dcterms:W3CDTF">2021-09-06T20:28:02Z</dcterms:modified>
</cp:coreProperties>
</file>