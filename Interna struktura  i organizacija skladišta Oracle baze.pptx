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7" r:id="rId1"/>
  </p:sldMasterIdLst>
  <p:notesMasterIdLst>
    <p:notesMasterId r:id="rId23"/>
  </p:notesMasterIdLst>
  <p:sldIdLst>
    <p:sldId id="256" r:id="rId2"/>
    <p:sldId id="257" r:id="rId3"/>
    <p:sldId id="262" r:id="rId4"/>
    <p:sldId id="258" r:id="rId5"/>
    <p:sldId id="259" r:id="rId6"/>
    <p:sldId id="260" r:id="rId7"/>
    <p:sldId id="267" r:id="rId8"/>
    <p:sldId id="261" r:id="rId9"/>
    <p:sldId id="263" r:id="rId10"/>
    <p:sldId id="264" r:id="rId11"/>
    <p:sldId id="277" r:id="rId12"/>
    <p:sldId id="269" r:id="rId13"/>
    <p:sldId id="270" r:id="rId14"/>
    <p:sldId id="265" r:id="rId15"/>
    <p:sldId id="271" r:id="rId16"/>
    <p:sldId id="272" r:id="rId17"/>
    <p:sldId id="266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6433" autoAdjust="0"/>
  </p:normalViewPr>
  <p:slideViewPr>
    <p:cSldViewPr snapToGrid="0">
      <p:cViewPr varScale="1">
        <p:scale>
          <a:sx n="116" d="100"/>
          <a:sy n="116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145B2-F7BF-44F1-A720-EF5C5AD3FB97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4D579-BE74-4415-8D56-3D8FB0D8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6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97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3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8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20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33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7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33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9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24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0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16764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55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003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35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0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6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89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64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9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39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20-Apr-21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11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Interna</a:t>
            </a:r>
            <a:r>
              <a:rPr lang="en-US" dirty="0" smtClean="0"/>
              <a:t> </a:t>
            </a:r>
            <a:r>
              <a:rPr lang="en-US" dirty="0" err="1" smtClean="0"/>
              <a:t>struktura</a:t>
            </a:r>
            <a:r>
              <a:rPr lang="en-US" dirty="0" smtClean="0"/>
              <a:t> </a:t>
            </a:r>
            <a:r>
              <a:rPr lang="sr-Latn-RS" dirty="0" smtClean="0"/>
              <a:t> i organizacija skladišta Oracle baze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 smtClean="0"/>
              <a:t>Student:</a:t>
            </a:r>
          </a:p>
          <a:p>
            <a:r>
              <a:rPr lang="sr-Latn-RS" dirty="0" smtClean="0"/>
              <a:t>Maja Stojanović 1227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1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219192"/>
            <a:ext cx="9692640" cy="1325562"/>
          </a:xfrm>
        </p:spPr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16608"/>
            <a:ext cx="8595360" cy="4351337"/>
          </a:xfrm>
        </p:spPr>
        <p:txBody>
          <a:bodyPr/>
          <a:lstStyle/>
          <a:p>
            <a:r>
              <a:rPr lang="sr-Latn-RS" sz="2400" dirty="0" smtClean="0"/>
              <a:t>Uvod</a:t>
            </a:r>
          </a:p>
          <a:p>
            <a:r>
              <a:rPr lang="sr-Latn-RS" sz="2400" dirty="0" smtClean="0"/>
              <a:t>Fizičke strukture za skladištenje </a:t>
            </a:r>
          </a:p>
          <a:p>
            <a:r>
              <a:rPr lang="sr-Latn-RS" sz="2400" dirty="0" smtClean="0"/>
              <a:t>Logičke strukture za skladištenje</a:t>
            </a:r>
          </a:p>
          <a:p>
            <a:r>
              <a:rPr lang="sr-Latn-RS" sz="2400" dirty="0" smtClean="0"/>
              <a:t>Primeri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168" y="2295391"/>
            <a:ext cx="4090416" cy="40904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776" y="0"/>
            <a:ext cx="3288703" cy="184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7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Uvod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Jedna od osobina RDBMS-a je nezavisnost logičkih od fizičkih struktura za skladištenje, </a:t>
            </a:r>
            <a:r>
              <a:rPr lang="sr-Latn-RS" dirty="0"/>
              <a:t>z</a:t>
            </a:r>
            <a:r>
              <a:rPr lang="en-US" dirty="0" smtClean="0"/>
              <a:t>bog </a:t>
            </a:r>
            <a:r>
              <a:rPr lang="en-US" dirty="0"/>
              <a:t>toga je </a:t>
            </a:r>
            <a:r>
              <a:rPr lang="en-US" dirty="0" err="1"/>
              <a:t>moguće</a:t>
            </a:r>
            <a:r>
              <a:rPr lang="en-US" dirty="0"/>
              <a:t> </a:t>
            </a:r>
            <a:r>
              <a:rPr lang="en-US" dirty="0" err="1"/>
              <a:t>upravljati</a:t>
            </a:r>
            <a:r>
              <a:rPr lang="en-US" dirty="0"/>
              <a:t> </a:t>
            </a:r>
            <a:r>
              <a:rPr lang="en-US" dirty="0" err="1"/>
              <a:t>fizičkim</a:t>
            </a:r>
            <a:r>
              <a:rPr lang="en-US" dirty="0"/>
              <a:t> </a:t>
            </a:r>
            <a:r>
              <a:rPr lang="en-US" dirty="0" err="1"/>
              <a:t>skladištenjem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bez</a:t>
            </a:r>
            <a:r>
              <a:rPr lang="en-US" dirty="0"/>
              <a:t> </a:t>
            </a:r>
            <a:r>
              <a:rPr lang="en-US" dirty="0" err="1"/>
              <a:t>uticaja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logičke</a:t>
            </a:r>
            <a:r>
              <a:rPr lang="en-US" dirty="0"/>
              <a:t> </a:t>
            </a:r>
            <a:r>
              <a:rPr lang="en-US" dirty="0" err="1"/>
              <a:t>strukture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289" y="2880034"/>
            <a:ext cx="2967038" cy="34375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952" y="3143726"/>
            <a:ext cx="46767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437333"/>
            <a:ext cx="9692640" cy="1325562"/>
          </a:xfrm>
        </p:spPr>
        <p:txBody>
          <a:bodyPr/>
          <a:lstStyle/>
          <a:p>
            <a:r>
              <a:rPr lang="sr-Latn-RS" dirty="0" smtClean="0"/>
              <a:t>Fizičke strukture za skladištenje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69989"/>
            <a:ext cx="8595360" cy="4351337"/>
          </a:xfrm>
        </p:spPr>
        <p:txBody>
          <a:bodyPr/>
          <a:lstStyle/>
          <a:p>
            <a:r>
              <a:rPr lang="sr-Latn-RS" sz="2400" dirty="0" smtClean="0"/>
              <a:t>Data files </a:t>
            </a:r>
          </a:p>
          <a:p>
            <a:r>
              <a:rPr lang="sr-Latn-RS" sz="2400" dirty="0" smtClean="0"/>
              <a:t>Control files</a:t>
            </a:r>
          </a:p>
          <a:p>
            <a:r>
              <a:rPr lang="sr-Latn-RS" sz="2400" dirty="0" smtClean="0"/>
              <a:t>Online redo log files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38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Data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 </a:t>
            </a:r>
            <a:r>
              <a:rPr lang="en-US" dirty="0" err="1" smtClean="0"/>
              <a:t>nivou</a:t>
            </a:r>
            <a:r>
              <a:rPr lang="en-US" dirty="0" smtClean="0"/>
              <a:t> </a:t>
            </a:r>
            <a:r>
              <a:rPr lang="en-US" dirty="0" err="1" smtClean="0"/>
              <a:t>operativnog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Oracle </a:t>
            </a:r>
            <a:r>
              <a:rPr lang="en-US" dirty="0" err="1" smtClean="0"/>
              <a:t>skladi</a:t>
            </a:r>
            <a:r>
              <a:rPr lang="sr-Latn-RS" dirty="0" smtClean="0"/>
              <a:t>šti podatke u data file-u</a:t>
            </a:r>
          </a:p>
          <a:p>
            <a:r>
              <a:rPr lang="sr-Latn-RS" dirty="0"/>
              <a:t>Oracle skladišti podatke logički u tablespace-eve, a fizički u data file-ove povezane sa odgovarajućim tablespace-om.</a:t>
            </a:r>
            <a:endParaRPr lang="sr-Latn-RS" dirty="0" smtClean="0"/>
          </a:p>
          <a:p>
            <a:r>
              <a:rPr lang="sr-Latn-RS" dirty="0" smtClean="0"/>
              <a:t>Svaki data file odgovara jednom tablespace-u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866" y="4460892"/>
            <a:ext cx="4800600" cy="1847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253" y="3803667"/>
            <a:ext cx="3507404" cy="269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25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Control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Oracle baza koristi control file-ove za lociranje fajlova baze podataka i za upravljanje stanjem baze podataka</a:t>
            </a:r>
          </a:p>
          <a:p>
            <a:r>
              <a:rPr lang="sr-Latn-RS" dirty="0" smtClean="0"/>
              <a:t>Sadrži informacije o data file-ovima, online redo log fajlovima, informacije koje su potrebne za pokretanje baze</a:t>
            </a:r>
          </a:p>
          <a:p>
            <a:r>
              <a:rPr lang="sr-Latn-RS" dirty="0" smtClean="0"/>
              <a:t>Sadrži metapodatke koji moraju biti dostupni kada baza podataka nije pokrenuta</a:t>
            </a:r>
          </a:p>
          <a:p>
            <a:r>
              <a:rPr lang="sr-Latn-RS" dirty="0" smtClean="0"/>
              <a:t>Oracle omogućava postojanje više kontrolnih fajlova radi postizanja redudantnosti</a:t>
            </a:r>
          </a:p>
          <a:p>
            <a:r>
              <a:rPr lang="sr-Latn-RS" dirty="0" smtClean="0"/>
              <a:t>Ukoliko je control file oštećen nemoguće je pokrenuti bazu podataka</a:t>
            </a:r>
          </a:p>
          <a:p>
            <a:r>
              <a:rPr lang="sr-Latn-RS" dirty="0" smtClean="0"/>
              <a:t>Koristi se za oporavak baze podataka</a:t>
            </a:r>
          </a:p>
        </p:txBody>
      </p:sp>
    </p:spTree>
    <p:extLst>
      <p:ext uri="{BB962C8B-B14F-4D97-AF65-F5344CB8AC3E}">
        <p14:creationId xmlns:p14="http://schemas.microsoft.com/office/powerpoint/2010/main" val="64211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Online redo log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Najbitnija struktura koja se koristi za oporavak baze podataka</a:t>
            </a:r>
          </a:p>
          <a:p>
            <a:r>
              <a:rPr lang="sr-Latn-RS" dirty="0" smtClean="0"/>
              <a:t>Sastoji se od 2 ili više prealocirana fajla koji zapisuju promene koje su nastale u bazi podataka, odnosno u data fajlovima</a:t>
            </a:r>
          </a:p>
          <a:p>
            <a:r>
              <a:rPr lang="sr-Latn-RS" dirty="0" smtClean="0"/>
              <a:t>Dnevnik transakcija, mogu da se multipleksiraju da sistem bude redudantan</a:t>
            </a:r>
          </a:p>
          <a:p>
            <a:r>
              <a:rPr lang="sr-Latn-RS" dirty="0" smtClean="0"/>
              <a:t>Ovi fajlovi se koriste kao zaštita od gubitka podataka</a:t>
            </a:r>
          </a:p>
          <a:p>
            <a:r>
              <a:rPr lang="sr-Latn-RS" dirty="0"/>
              <a:t>Online redo log file sadrži redo rekorde. Redo rekord je sačinjen od grupe vektora promena, od kojih svaka opisuje promenu u data block-u.</a:t>
            </a:r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25624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Oracle ASM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Mehanizam za skladištenje fajlova baze podataka, uključuje fajl sistem dizajniran za korišćenje od strane Oracle baze podataka</a:t>
            </a:r>
          </a:p>
          <a:p>
            <a:r>
              <a:rPr lang="sr-Latn-RS" dirty="0" smtClean="0"/>
              <a:t>Prednosti korišćena Oracle ASM-a:</a:t>
            </a:r>
          </a:p>
          <a:p>
            <a:pPr marL="617220" lvl="1" indent="-342900">
              <a:buFont typeface="+mj-lt"/>
              <a:buAutoNum type="arabicPeriod"/>
            </a:pPr>
            <a:r>
              <a:rPr lang="sr-Latn-RS" dirty="0"/>
              <a:t>•	Pojednostavljuje zadatke povezane sa skladištem, kao što su kreiranje i postavljanje baza podataka i upravljanje prostorom na disku</a:t>
            </a:r>
          </a:p>
          <a:p>
            <a:pPr marL="617220" lvl="1" indent="-342900">
              <a:buFont typeface="+mj-lt"/>
              <a:buAutoNum type="arabicPeriod"/>
            </a:pPr>
            <a:r>
              <a:rPr lang="sr-Latn-RS" dirty="0"/>
              <a:t>•	Distribuira podatke preko fizičkog diska kako bi eliminisao žarišta i pružio ujednačene performanse na diskovima</a:t>
            </a:r>
          </a:p>
          <a:p>
            <a:pPr marL="617220" lvl="1" indent="-342900">
              <a:buFont typeface="+mj-lt"/>
              <a:buAutoNum type="arabicPeriod"/>
            </a:pPr>
            <a:r>
              <a:rPr lang="sr-Latn-RS" dirty="0"/>
              <a:t>•	Rebalansira podatke automatski nakon promene konfiguracije skladišta</a:t>
            </a:r>
          </a:p>
          <a:p>
            <a:pPr marL="617220" lvl="1" indent="-342900">
              <a:buFont typeface="+mj-lt"/>
              <a:buAutoNum type="arabicPeriod"/>
            </a:pPr>
            <a:endParaRPr lang="sr-Latn-R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524" y="4467225"/>
            <a:ext cx="3574192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Logičke strukture za skladištenje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Datablocks</a:t>
            </a:r>
          </a:p>
          <a:p>
            <a:r>
              <a:rPr lang="sr-Latn-RS" dirty="0" smtClean="0"/>
              <a:t>Extents</a:t>
            </a:r>
          </a:p>
          <a:p>
            <a:r>
              <a:rPr lang="sr-Latn-RS" dirty="0" smtClean="0"/>
              <a:t>Segments</a:t>
            </a:r>
          </a:p>
          <a:p>
            <a:r>
              <a:rPr lang="sr-Latn-RS" dirty="0" smtClean="0"/>
              <a:t>Tablespaces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9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Data 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Oracle baza upravlja logičkim prostorom u data file-u koristeći jedinicu baze koja se naziva data block</a:t>
            </a:r>
          </a:p>
          <a:p>
            <a:r>
              <a:rPr lang="sr-Latn-RS" dirty="0" smtClean="0"/>
              <a:t>N</a:t>
            </a:r>
            <a:r>
              <a:rPr lang="en-US" dirty="0" err="1" smtClean="0"/>
              <a:t>ajniža</a:t>
            </a:r>
            <a:r>
              <a:rPr lang="en-US" dirty="0" smtClean="0"/>
              <a:t> </a:t>
            </a:r>
            <a:r>
              <a:rPr lang="en-US" dirty="0" err="1"/>
              <a:t>logička</a:t>
            </a:r>
            <a:r>
              <a:rPr lang="en-US" dirty="0"/>
              <a:t> </a:t>
            </a:r>
            <a:r>
              <a:rPr lang="en-US" dirty="0" err="1"/>
              <a:t>jedinica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skladištenje</a:t>
            </a:r>
            <a:r>
              <a:rPr lang="en-US" dirty="0"/>
              <a:t>. </a:t>
            </a:r>
            <a:r>
              <a:rPr lang="en-US" dirty="0" err="1"/>
              <a:t>Jedan</a:t>
            </a:r>
            <a:r>
              <a:rPr lang="en-US" dirty="0"/>
              <a:t> data block </a:t>
            </a:r>
            <a:r>
              <a:rPr lang="en-US" dirty="0" err="1"/>
              <a:t>odgovara</a:t>
            </a:r>
            <a:r>
              <a:rPr lang="en-US" dirty="0"/>
              <a:t> </a:t>
            </a:r>
            <a:r>
              <a:rPr lang="en-US" dirty="0" err="1"/>
              <a:t>specifičnom</a:t>
            </a:r>
            <a:r>
              <a:rPr lang="en-US" dirty="0"/>
              <a:t> </a:t>
            </a:r>
            <a:r>
              <a:rPr lang="en-US" dirty="0" err="1"/>
              <a:t>broju</a:t>
            </a:r>
            <a:r>
              <a:rPr lang="en-US" dirty="0"/>
              <a:t> </a:t>
            </a:r>
            <a:r>
              <a:rPr lang="en-US" dirty="0" err="1"/>
              <a:t>bajtova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fizičkom</a:t>
            </a:r>
            <a:r>
              <a:rPr lang="en-US" dirty="0"/>
              <a:t> </a:t>
            </a:r>
            <a:r>
              <a:rPr lang="en-US" dirty="0" err="1"/>
              <a:t>disku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395" y="3250115"/>
            <a:ext cx="2908030" cy="32052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3328762"/>
            <a:ext cx="35433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8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Row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Kao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data block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svoju</a:t>
            </a:r>
            <a:r>
              <a:rPr lang="en-US" dirty="0"/>
              <a:t> </a:t>
            </a:r>
            <a:r>
              <a:rPr lang="en-US" dirty="0" err="1"/>
              <a:t>internu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, </a:t>
            </a:r>
            <a:r>
              <a:rPr lang="en-US" dirty="0" err="1"/>
              <a:t>svaki</a:t>
            </a:r>
            <a:r>
              <a:rPr lang="en-US" dirty="0"/>
              <a:t> red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svoj</a:t>
            </a:r>
            <a:r>
              <a:rPr lang="en-US" dirty="0"/>
              <a:t> format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bazi</a:t>
            </a:r>
            <a:r>
              <a:rPr lang="en-US" dirty="0"/>
              <a:t> da </a:t>
            </a:r>
            <a:r>
              <a:rPr lang="en-US" dirty="0" err="1"/>
              <a:t>prati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se </a:t>
            </a:r>
            <a:r>
              <a:rPr lang="en-US" dirty="0" err="1"/>
              <a:t>nalaze</a:t>
            </a:r>
            <a:r>
              <a:rPr lang="en-US" dirty="0"/>
              <a:t> u tom </a:t>
            </a:r>
            <a:r>
              <a:rPr lang="en-US" dirty="0" err="1"/>
              <a:t>redu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en-US" dirty="0"/>
              <a:t>Oracle </a:t>
            </a:r>
            <a:r>
              <a:rPr lang="en-US" dirty="0" err="1"/>
              <a:t>skladišti</a:t>
            </a:r>
            <a:r>
              <a:rPr lang="en-US" dirty="0"/>
              <a:t> </a:t>
            </a:r>
            <a:r>
              <a:rPr lang="en-US" dirty="0" err="1"/>
              <a:t>redove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rekorde</a:t>
            </a:r>
            <a:r>
              <a:rPr lang="en-US" dirty="0"/>
              <a:t> </a:t>
            </a:r>
            <a:r>
              <a:rPr lang="en-US" dirty="0" err="1"/>
              <a:t>promenljivih</a:t>
            </a:r>
            <a:r>
              <a:rPr lang="en-US" dirty="0"/>
              <a:t> </a:t>
            </a:r>
            <a:r>
              <a:rPr lang="en-US" dirty="0" err="1"/>
              <a:t>veličina</a:t>
            </a:r>
            <a:r>
              <a:rPr lang="en-US" dirty="0"/>
              <a:t>. Red je </a:t>
            </a:r>
            <a:r>
              <a:rPr lang="en-US" dirty="0" err="1"/>
              <a:t>sadržan</a:t>
            </a:r>
            <a:r>
              <a:rPr lang="en-US" dirty="0"/>
              <a:t> u </a:t>
            </a:r>
            <a:r>
              <a:rPr lang="en-US" dirty="0" err="1"/>
              <a:t>jednoj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sekcija</a:t>
            </a:r>
            <a:r>
              <a:rPr lang="en-US" dirty="0"/>
              <a:t>,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sekcija</a:t>
            </a:r>
            <a:r>
              <a:rPr lang="en-US" dirty="0"/>
              <a:t> se </a:t>
            </a:r>
            <a:r>
              <a:rPr lang="en-US" dirty="0" err="1"/>
              <a:t>naziva</a:t>
            </a:r>
            <a:r>
              <a:rPr lang="en-US" dirty="0"/>
              <a:t> row piece.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155" y="3368663"/>
            <a:ext cx="3883489" cy="32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PCTFREE, PCTUSED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smtClean="0"/>
              <a:t>PCTFREE parametar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r-Latn-RS" dirty="0" smtClean="0"/>
              <a:t>PCTUSED parametar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sr-Latn-RS" dirty="0"/>
              <a:t>Setuje minimalni % data block-a </a:t>
            </a:r>
            <a:r>
              <a:rPr lang="sr-Latn-RS" dirty="0" smtClean="0"/>
              <a:t>koji može biti korišćen za redove pre nego što novi redovi budu dodati u data block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sr-Latn-RS" dirty="0" smtClean="0"/>
              <a:t>Setuje </a:t>
            </a:r>
            <a:r>
              <a:rPr lang="sr-Latn-RS" dirty="0"/>
              <a:t>minimalni % data block-a koji će biti rezervisan za moguće ažuriranje već postojećih redova u tom data block-u</a:t>
            </a:r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3705225"/>
            <a:ext cx="3710140" cy="27384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859" y="3819525"/>
            <a:ext cx="4477566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6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832" y="285750"/>
            <a:ext cx="7097467" cy="6197676"/>
          </a:xfrm>
        </p:spPr>
      </p:pic>
    </p:spTree>
    <p:extLst>
      <p:ext uri="{BB962C8B-B14F-4D97-AF65-F5344CB8AC3E}">
        <p14:creationId xmlns:p14="http://schemas.microsoft.com/office/powerpoint/2010/main" val="24420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Extents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Jedinica skladišta baze koja se sastoji od susednih data block-ova</a:t>
            </a:r>
          </a:p>
          <a:p>
            <a:r>
              <a:rPr lang="sr-Latn-RS" dirty="0" smtClean="0"/>
              <a:t>Jedan ili više extenta čine segment</a:t>
            </a:r>
          </a:p>
          <a:p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podrazumevano</a:t>
            </a:r>
            <a:r>
              <a:rPr lang="en-US" dirty="0"/>
              <a:t> </a:t>
            </a:r>
            <a:r>
              <a:rPr lang="en-US" dirty="0" err="1"/>
              <a:t>alocira</a:t>
            </a:r>
            <a:r>
              <a:rPr lang="en-US" dirty="0"/>
              <a:t> </a:t>
            </a:r>
            <a:r>
              <a:rPr lang="en-US" dirty="0" err="1"/>
              <a:t>početni</a:t>
            </a:r>
            <a:r>
              <a:rPr lang="en-US" dirty="0"/>
              <a:t> extent </a:t>
            </a:r>
            <a:r>
              <a:rPr lang="en-US" dirty="0" err="1"/>
              <a:t>za</a:t>
            </a:r>
            <a:r>
              <a:rPr lang="en-US" dirty="0"/>
              <a:t> data segment </a:t>
            </a:r>
            <a:r>
              <a:rPr lang="en-US" dirty="0" err="1"/>
              <a:t>kada</a:t>
            </a:r>
            <a:r>
              <a:rPr lang="en-US" dirty="0"/>
              <a:t> se segment </a:t>
            </a:r>
            <a:r>
              <a:rPr lang="en-US" dirty="0" err="1"/>
              <a:t>kreira</a:t>
            </a:r>
            <a:r>
              <a:rPr lang="en-US" dirty="0"/>
              <a:t>. Extent je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sadržan</a:t>
            </a:r>
            <a:r>
              <a:rPr lang="en-US" dirty="0"/>
              <a:t> u </a:t>
            </a:r>
            <a:r>
              <a:rPr lang="en-US" dirty="0" err="1"/>
              <a:t>jednom</a:t>
            </a:r>
            <a:r>
              <a:rPr lang="en-US" dirty="0"/>
              <a:t> data </a:t>
            </a:r>
            <a:r>
              <a:rPr lang="en-US" dirty="0" smtClean="0"/>
              <a:t>file-u</a:t>
            </a:r>
            <a:r>
              <a:rPr lang="sr-Latn-R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52" y="3760787"/>
            <a:ext cx="48768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4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Segments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Segment je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extenta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sadrže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logičku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tablespace</a:t>
            </a:r>
            <a:r>
              <a:rPr lang="en-US" dirty="0"/>
              <a:t>-a. </a:t>
            </a:r>
            <a:endParaRPr lang="sr-Latn-RS" dirty="0" smtClean="0"/>
          </a:p>
          <a:p>
            <a:r>
              <a:rPr lang="sr-Latn-RS" dirty="0" smtClean="0"/>
              <a:t>Baza podataka koristi 4 vrste segmenata: Data Segment, Index Segment, Temporary Segment, Rollback Segment</a:t>
            </a:r>
          </a:p>
          <a:p>
            <a:r>
              <a:rPr lang="en-US" dirty="0" err="1"/>
              <a:t>Jedan</a:t>
            </a:r>
            <a:r>
              <a:rPr lang="en-US" dirty="0"/>
              <a:t> data segment u Oracle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čuva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korisnički</a:t>
            </a:r>
            <a:r>
              <a:rPr lang="en-US" dirty="0"/>
              <a:t> </a:t>
            </a:r>
            <a:r>
              <a:rPr lang="en-US" dirty="0" err="1"/>
              <a:t>objekat</a:t>
            </a:r>
            <a:r>
              <a:rPr lang="en-US" dirty="0"/>
              <a:t>. </a:t>
            </a:r>
            <a:r>
              <a:rPr lang="en-US" dirty="0" err="1"/>
              <a:t>Primeri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user </a:t>
            </a:r>
            <a:r>
              <a:rPr lang="en-US" dirty="0" err="1"/>
              <a:t>segmente</a:t>
            </a:r>
            <a:r>
              <a:rPr lang="en-US" dirty="0"/>
              <a:t> </a:t>
            </a:r>
            <a:r>
              <a:rPr lang="en-US" dirty="0" err="1"/>
              <a:t>uključuju</a:t>
            </a:r>
            <a:r>
              <a:rPr lang="en-US" dirty="0"/>
              <a:t>: </a:t>
            </a:r>
            <a:endParaRPr lang="sr-Latn-RS" dirty="0" smtClean="0"/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Table, table </a:t>
            </a:r>
            <a:r>
              <a:rPr lang="en-US" dirty="0" err="1"/>
              <a:t>paritition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table cluster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LOB </a:t>
            </a:r>
            <a:r>
              <a:rPr lang="en-US" dirty="0" err="1"/>
              <a:t>ili</a:t>
            </a:r>
            <a:r>
              <a:rPr lang="en-US" dirty="0"/>
              <a:t> LOB partition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Index or index partition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00" y="3679257"/>
            <a:ext cx="3971925" cy="317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2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Tablespace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Tablespace</a:t>
            </a:r>
            <a:r>
              <a:rPr lang="en-US" dirty="0"/>
              <a:t> je </a:t>
            </a:r>
            <a:r>
              <a:rPr lang="en-US" dirty="0" err="1"/>
              <a:t>logičko</a:t>
            </a:r>
            <a:r>
              <a:rPr lang="en-US" dirty="0"/>
              <a:t> </a:t>
            </a:r>
            <a:r>
              <a:rPr lang="en-US" dirty="0" err="1"/>
              <a:t>skladište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segmente</a:t>
            </a:r>
            <a:r>
              <a:rPr lang="en-US" dirty="0"/>
              <a:t>. Na </a:t>
            </a:r>
            <a:r>
              <a:rPr lang="en-US" dirty="0" err="1"/>
              <a:t>fizičkom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, </a:t>
            </a:r>
            <a:r>
              <a:rPr lang="en-US" dirty="0" err="1"/>
              <a:t>tablespace</a:t>
            </a:r>
            <a:r>
              <a:rPr lang="en-US" dirty="0"/>
              <a:t> </a:t>
            </a:r>
            <a:r>
              <a:rPr lang="en-US" dirty="0" err="1"/>
              <a:t>skladišti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u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data file-a </a:t>
            </a:r>
            <a:r>
              <a:rPr lang="en-US" dirty="0" err="1"/>
              <a:t>ili</a:t>
            </a:r>
            <a:r>
              <a:rPr lang="en-US" dirty="0"/>
              <a:t> temp file-a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sr-Latn-RS" dirty="0" smtClean="0"/>
              <a:t>Svaka baza mora da sadrži SYSTEM i SYSAUX tablespace</a:t>
            </a:r>
          </a:p>
          <a:p>
            <a:r>
              <a:rPr lang="en-US" dirty="0" err="1"/>
              <a:t>Tablespace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se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postizanje</a:t>
            </a:r>
            <a:r>
              <a:rPr lang="en-US" dirty="0"/>
              <a:t> </a:t>
            </a:r>
            <a:r>
              <a:rPr lang="en-US" dirty="0" err="1"/>
              <a:t>sledećih</a:t>
            </a:r>
            <a:r>
              <a:rPr lang="en-US" dirty="0"/>
              <a:t> </a:t>
            </a:r>
            <a:r>
              <a:rPr lang="en-US" dirty="0" err="1"/>
              <a:t>stvari</a:t>
            </a:r>
            <a:r>
              <a:rPr lang="en-US" dirty="0" smtClean="0"/>
              <a:t>:</a:t>
            </a:r>
            <a:endParaRPr lang="sr-Latn-RS" dirty="0" smtClean="0"/>
          </a:p>
          <a:p>
            <a:pPr marL="617220" lvl="1" indent="-342900">
              <a:buFont typeface="+mj-lt"/>
              <a:buAutoNum type="arabicPeriod"/>
            </a:pPr>
            <a:r>
              <a:rPr lang="en-US" dirty="0" err="1"/>
              <a:t>Kontrolisanje</a:t>
            </a:r>
            <a:r>
              <a:rPr lang="en-US" dirty="0"/>
              <a:t> </a:t>
            </a:r>
            <a:r>
              <a:rPr lang="en-US" dirty="0" err="1"/>
              <a:t>alociranog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</a:t>
            </a:r>
            <a:r>
              <a:rPr lang="en-US" dirty="0" err="1"/>
              <a:t>diska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baze</a:t>
            </a:r>
            <a:endParaRPr lang="en-US" dirty="0"/>
          </a:p>
          <a:p>
            <a:pPr marL="617220" lvl="1" indent="-342900">
              <a:buFont typeface="+mj-lt"/>
              <a:buAutoNum type="arabicPeriod"/>
            </a:pPr>
            <a:r>
              <a:rPr lang="en-US" dirty="0" err="1"/>
              <a:t>Dodeljivanje</a:t>
            </a:r>
            <a:r>
              <a:rPr lang="en-US" dirty="0"/>
              <a:t> </a:t>
            </a:r>
            <a:r>
              <a:rPr lang="en-US" dirty="0" err="1"/>
              <a:t>limitiranog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</a:t>
            </a:r>
            <a:r>
              <a:rPr lang="en-US" dirty="0" err="1"/>
              <a:t>korisniku</a:t>
            </a:r>
            <a:r>
              <a:rPr lang="en-US" dirty="0"/>
              <a:t> </a:t>
            </a:r>
            <a:r>
              <a:rPr lang="en-US" dirty="0" err="1"/>
              <a:t>baze</a:t>
            </a:r>
            <a:endParaRPr lang="en-US" dirty="0"/>
          </a:p>
          <a:p>
            <a:pPr marL="617220" lvl="1" indent="-342900">
              <a:buFont typeface="+mj-lt"/>
              <a:buAutoNum type="arabicPeriod"/>
            </a:pPr>
            <a:r>
              <a:rPr lang="en-US" dirty="0" err="1"/>
              <a:t>Uključivanje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isključivanje</a:t>
            </a:r>
            <a:r>
              <a:rPr lang="en-US" dirty="0"/>
              <a:t> </a:t>
            </a:r>
            <a:r>
              <a:rPr lang="en-US" dirty="0" err="1"/>
              <a:t>individualnih</a:t>
            </a:r>
            <a:r>
              <a:rPr lang="en-US" dirty="0"/>
              <a:t> </a:t>
            </a:r>
            <a:r>
              <a:rPr lang="en-US" dirty="0" err="1"/>
              <a:t>tablespace-eva</a:t>
            </a:r>
            <a:r>
              <a:rPr lang="en-US" dirty="0"/>
              <a:t> </a:t>
            </a:r>
            <a:r>
              <a:rPr lang="en-US" dirty="0" err="1"/>
              <a:t>bez</a:t>
            </a:r>
            <a:r>
              <a:rPr lang="en-US" dirty="0"/>
              <a:t> </a:t>
            </a:r>
            <a:r>
              <a:rPr lang="en-US" dirty="0" err="1"/>
              <a:t>uticanja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dostupnost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baze</a:t>
            </a:r>
            <a:endParaRPr lang="en-US" dirty="0"/>
          </a:p>
          <a:p>
            <a:pPr marL="617220" lvl="1" indent="-342900">
              <a:buFont typeface="+mj-lt"/>
              <a:buAutoNum type="arabicPeriod"/>
            </a:pPr>
            <a:r>
              <a:rPr lang="en-US" dirty="0" err="1"/>
              <a:t>Izvođenje</a:t>
            </a:r>
            <a:r>
              <a:rPr lang="en-US" dirty="0"/>
              <a:t> backup-a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oporavka</a:t>
            </a:r>
            <a:r>
              <a:rPr lang="en-US" dirty="0"/>
              <a:t> </a:t>
            </a:r>
            <a:r>
              <a:rPr lang="en-US" dirty="0" err="1"/>
              <a:t>individualnih</a:t>
            </a:r>
            <a:r>
              <a:rPr lang="en-US" dirty="0"/>
              <a:t> </a:t>
            </a:r>
            <a:r>
              <a:rPr lang="en-US" dirty="0" err="1"/>
              <a:t>tablespace-va</a:t>
            </a:r>
            <a:endParaRPr lang="en-US" dirty="0"/>
          </a:p>
          <a:p>
            <a:pPr marL="617220" lvl="1" indent="-342900">
              <a:buFont typeface="+mj-lt"/>
              <a:buAutoNum type="arabicPeriod"/>
            </a:pPr>
            <a:r>
              <a:rPr lang="en-US" dirty="0" err="1"/>
              <a:t>Importovanje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exportovanje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baze</a:t>
            </a:r>
            <a:endParaRPr lang="en-US" dirty="0"/>
          </a:p>
          <a:p>
            <a:pPr marL="617220" lvl="1" indent="-342900">
              <a:buFont typeface="+mj-lt"/>
              <a:buAutoNum type="arabicPeriod"/>
            </a:pPr>
            <a:r>
              <a:rPr lang="en-US" dirty="0" err="1"/>
              <a:t>Kreiranje</a:t>
            </a:r>
            <a:r>
              <a:rPr lang="en-US" dirty="0"/>
              <a:t> transportable </a:t>
            </a:r>
            <a:r>
              <a:rPr lang="en-US" dirty="0" err="1"/>
              <a:t>tablespace</a:t>
            </a:r>
            <a:r>
              <a:rPr lang="en-US" dirty="0"/>
              <a:t>-a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se </a:t>
            </a:r>
            <a:r>
              <a:rPr lang="en-US" dirty="0" err="1"/>
              <a:t>premešta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u </a:t>
            </a:r>
            <a:r>
              <a:rPr lang="en-US" dirty="0" err="1"/>
              <a:t>drugu</a:t>
            </a:r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98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472" y="-415290"/>
            <a:ext cx="9692640" cy="1325562"/>
          </a:xfrm>
        </p:spPr>
        <p:txBody>
          <a:bodyPr/>
          <a:lstStyle/>
          <a:p>
            <a:pPr algn="ctr"/>
            <a:r>
              <a:rPr lang="sr-Latn-RS" dirty="0" smtClean="0"/>
              <a:t>Primeri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031700"/>
            <a:ext cx="3613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Fizičke strukture za skladištenje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20" y="1879968"/>
            <a:ext cx="3305317" cy="3725039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778" y="2577640"/>
            <a:ext cx="4224691" cy="10502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81625" y="1220199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Control file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929" y="4367474"/>
            <a:ext cx="3724795" cy="10427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346" y="5695831"/>
            <a:ext cx="6329553" cy="9081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83885" y="3769939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Data file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24" y="1877763"/>
            <a:ext cx="6077798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5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441" y="2736605"/>
            <a:ext cx="4944165" cy="533474"/>
          </a:xfrm>
        </p:spPr>
      </p:pic>
      <p:sp>
        <p:nvSpPr>
          <p:cNvPr id="8" name="TextBox 7"/>
          <p:cNvSpPr txBox="1"/>
          <p:nvPr/>
        </p:nvSpPr>
        <p:spPr>
          <a:xfrm>
            <a:off x="3519487" y="885569"/>
            <a:ext cx="288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Online Redo log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4738593"/>
            <a:ext cx="2029108" cy="9621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812" y="4643295"/>
            <a:ext cx="5639587" cy="13051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24185" y="3841468"/>
            <a:ext cx="387667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Tablespace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554" y="1506093"/>
            <a:ext cx="6020640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6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71" y="2114550"/>
            <a:ext cx="3551559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757" y="2114550"/>
            <a:ext cx="2638095" cy="14095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950" y="2114550"/>
            <a:ext cx="3481725" cy="44151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239" y="2114550"/>
            <a:ext cx="2428571" cy="13714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50" y="619125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Tabela ROBA2</a:t>
            </a:r>
            <a:endParaRPr lang="en-US" dirty="0" smtClean="0"/>
          </a:p>
          <a:p>
            <a:endParaRPr lang="sr-Latn-RS" dirty="0" smtClean="0"/>
          </a:p>
          <a:p>
            <a:r>
              <a:rPr lang="sr-Latn-RS" dirty="0" smtClean="0"/>
              <a:t>PCTFREE</a:t>
            </a:r>
            <a:r>
              <a:rPr lang="en-US" dirty="0" smtClean="0"/>
              <a:t>=10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696075" y="619125"/>
            <a:ext cx="186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Tabela ROBA3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PCTFREE=30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90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676" y="836073"/>
            <a:ext cx="2521697" cy="583142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31" y="836073"/>
            <a:ext cx="2538619" cy="57465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1515" y="304800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Tabela ROBA2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10049" y="304800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Tabela ROBA3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8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61872" y="647700"/>
            <a:ext cx="8910828" cy="3438525"/>
          </a:xfrm>
        </p:spPr>
        <p:txBody>
          <a:bodyPr/>
          <a:lstStyle/>
          <a:p>
            <a:pPr algn="ctr"/>
            <a:r>
              <a:rPr lang="sr-Latn-RS" dirty="0" smtClean="0"/>
              <a:t>HVALA NA PAŽNJI!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2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413</TotalTime>
  <Words>661</Words>
  <Application>Microsoft Office PowerPoint</Application>
  <PresentationFormat>Widescreen</PresentationFormat>
  <Paragraphs>99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Schoolbook</vt:lpstr>
      <vt:lpstr>Wingdings 2</vt:lpstr>
      <vt:lpstr>View</vt:lpstr>
      <vt:lpstr>Interna struktura  i organizacija skladišta Oracle baze</vt:lpstr>
      <vt:lpstr>Sadržaj</vt:lpstr>
      <vt:lpstr>Uvod</vt:lpstr>
      <vt:lpstr>Fizičke strukture za skladištenje</vt:lpstr>
      <vt:lpstr>Data file</vt:lpstr>
      <vt:lpstr>Control file</vt:lpstr>
      <vt:lpstr>Online redo log file</vt:lpstr>
      <vt:lpstr>Oracle ASM</vt:lpstr>
      <vt:lpstr>Logičke strukture za skladištenje</vt:lpstr>
      <vt:lpstr>Data blocks</vt:lpstr>
      <vt:lpstr>Row format</vt:lpstr>
      <vt:lpstr>PCTFREE, PCTUSED</vt:lpstr>
      <vt:lpstr>PowerPoint Presentation</vt:lpstr>
      <vt:lpstr>Extents</vt:lpstr>
      <vt:lpstr>Segments</vt:lpstr>
      <vt:lpstr>Tablespace</vt:lpstr>
      <vt:lpstr>Primeri</vt:lpstr>
      <vt:lpstr>PowerPoint Presentation</vt:lpstr>
      <vt:lpstr>PowerPoint Presentation</vt:lpstr>
      <vt:lpstr>PowerPoint Presentation</vt:lpstr>
      <vt:lpstr>HVALA NA PAŽNJI!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 struktura  i organizacija skladišta Oracle baze</dc:title>
  <dc:creator>Windows 10</dc:creator>
  <cp:lastModifiedBy>Windows 10</cp:lastModifiedBy>
  <cp:revision>32</cp:revision>
  <dcterms:created xsi:type="dcterms:W3CDTF">2021-04-19T19:12:24Z</dcterms:created>
  <dcterms:modified xsi:type="dcterms:W3CDTF">2021-04-20T21:15:01Z</dcterms:modified>
</cp:coreProperties>
</file>